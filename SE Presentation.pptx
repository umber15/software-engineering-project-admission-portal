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3"/>
  </p:notesMasterIdLst>
  <p:handoutMasterIdLst>
    <p:handoutMasterId r:id="rId24"/>
  </p:handoutMasterIdLst>
  <p:sldIdLst>
    <p:sldId id="292" r:id="rId5"/>
    <p:sldId id="281" r:id="rId6"/>
    <p:sldId id="275" r:id="rId7"/>
    <p:sldId id="276" r:id="rId8"/>
    <p:sldId id="295" r:id="rId9"/>
    <p:sldId id="283" r:id="rId10"/>
    <p:sldId id="294" r:id="rId11"/>
    <p:sldId id="296" r:id="rId12"/>
    <p:sldId id="299" r:id="rId13"/>
    <p:sldId id="300" r:id="rId14"/>
    <p:sldId id="301" r:id="rId15"/>
    <p:sldId id="288" r:id="rId16"/>
    <p:sldId id="303" r:id="rId17"/>
    <p:sldId id="305" r:id="rId18"/>
    <p:sldId id="306" r:id="rId19"/>
    <p:sldId id="307" r:id="rId20"/>
    <p:sldId id="304" r:id="rId21"/>
    <p:sldId id="289"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BE56"/>
    <a:srgbClr val="FFFFFF"/>
    <a:srgbClr val="446992"/>
    <a:srgbClr val="AEC2D8"/>
    <a:srgbClr val="98432A"/>
    <a:srgbClr val="D84400"/>
    <a:srgbClr val="44678D"/>
    <a:srgbClr val="263E5A"/>
    <a:srgbClr val="D6E0EB"/>
    <a:srgbClr val="728DA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5634"/>
  </p:normalViewPr>
  <p:slideViewPr>
    <p:cSldViewPr snapToGrid="0" showGuides="1">
      <p:cViewPr varScale="1">
        <p:scale>
          <a:sx n="74" d="100"/>
          <a:sy n="74" d="100"/>
        </p:scale>
        <p:origin x="594" y="72"/>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pPr/>
              <a:t>5/18/2026</a:t>
            </a:fld>
            <a:endParaRPr lang="en-US" dirty="0"/>
          </a:p>
        </p:txBody>
      </p:sp>
      <p:sp>
        <p:nvSpPr>
          <p:cNvPr id="4" name="Footer Placeholder 3">
            <a:extLst>
              <a:ext uri="{FF2B5EF4-FFF2-40B4-BE49-F238E27FC236}">
                <a16:creationId xmlns:a16="http://schemas.microsoft.com/office/drawing/2014/main" xmlns=""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pPr/>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xmlns=""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xmlns=""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xmlns=""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xmlns=""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pPr/>
              <a:t>5/18/2026</a:t>
            </a:fld>
            <a:endParaRPr lang="en-US"/>
          </a:p>
        </p:txBody>
      </p:sp>
      <p:sp>
        <p:nvSpPr>
          <p:cNvPr id="12" name="Notes Placeholder 11">
            <a:extLst>
              <a:ext uri="{FF2B5EF4-FFF2-40B4-BE49-F238E27FC236}">
                <a16:creationId xmlns:a16="http://schemas.microsoft.com/office/drawing/2014/main" xmlns=""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xmlns=""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pPr/>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pPr/>
              <a:t>2</a:t>
            </a:fld>
            <a:endParaRPr lang="en-US" altLang="zh-CN" dirty="0"/>
          </a:p>
        </p:txBody>
      </p:sp>
    </p:spTree>
    <p:extLst>
      <p:ext uri="{BB962C8B-B14F-4D97-AF65-F5344CB8AC3E}">
        <p14:creationId xmlns:p14="http://schemas.microsoft.com/office/powerpoint/2010/main" val="1077465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3</a:t>
            </a:fld>
            <a:endParaRPr lang="en-US" altLang="zh-CN" noProof="0" dirty="0"/>
          </a:p>
        </p:txBody>
      </p:sp>
    </p:spTree>
    <p:extLst>
      <p:ext uri="{BB962C8B-B14F-4D97-AF65-F5344CB8AC3E}">
        <p14:creationId xmlns:p14="http://schemas.microsoft.com/office/powerpoint/2010/main" val="464722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4</a:t>
            </a:fld>
            <a:endParaRPr lang="en-US" altLang="zh-CN" noProof="0" dirty="0"/>
          </a:p>
        </p:txBody>
      </p:sp>
    </p:spTree>
    <p:extLst>
      <p:ext uri="{BB962C8B-B14F-4D97-AF65-F5344CB8AC3E}">
        <p14:creationId xmlns:p14="http://schemas.microsoft.com/office/powerpoint/2010/main" val="13379377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pPr/>
              <a:t>5</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6</a:t>
            </a:fld>
            <a:endParaRPr lang="en-US" altLang="zh-CN" noProof="0" dirty="0"/>
          </a:p>
        </p:txBody>
      </p:sp>
    </p:spTree>
    <p:extLst>
      <p:ext uri="{BB962C8B-B14F-4D97-AF65-F5344CB8AC3E}">
        <p14:creationId xmlns:p14="http://schemas.microsoft.com/office/powerpoint/2010/main" val="991236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7</a:t>
            </a:fld>
            <a:endParaRPr lang="en-US" altLang="zh-CN" noProof="0" dirty="0"/>
          </a:p>
        </p:txBody>
      </p:sp>
    </p:spTree>
    <p:extLst>
      <p:ext uri="{BB962C8B-B14F-4D97-AF65-F5344CB8AC3E}">
        <p14:creationId xmlns:p14="http://schemas.microsoft.com/office/powerpoint/2010/main" val="2296002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8</a:t>
            </a:fld>
            <a:endParaRPr lang="en-US" altLang="zh-CN" noProof="0" dirty="0"/>
          </a:p>
        </p:txBody>
      </p:sp>
    </p:spTree>
    <p:extLst>
      <p:ext uri="{BB962C8B-B14F-4D97-AF65-F5344CB8AC3E}">
        <p14:creationId xmlns:p14="http://schemas.microsoft.com/office/powerpoint/2010/main" val="7494036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9</a:t>
            </a:fld>
            <a:endParaRPr lang="en-US" altLang="zh-CN" noProof="0" dirty="0"/>
          </a:p>
        </p:txBody>
      </p:sp>
    </p:spTree>
    <p:extLst>
      <p:ext uri="{BB962C8B-B14F-4D97-AF65-F5344CB8AC3E}">
        <p14:creationId xmlns:p14="http://schemas.microsoft.com/office/powerpoint/2010/main" val="7494036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10</a:t>
            </a:fld>
            <a:endParaRPr lang="en-US" altLang="zh-CN" noProof="0" dirty="0"/>
          </a:p>
        </p:txBody>
      </p:sp>
    </p:spTree>
    <p:extLst>
      <p:ext uri="{BB962C8B-B14F-4D97-AF65-F5344CB8AC3E}">
        <p14:creationId xmlns:p14="http://schemas.microsoft.com/office/powerpoint/2010/main" val="7494036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11</a:t>
            </a:fld>
            <a:endParaRPr lang="en-US" altLang="zh-CN" noProof="0" dirty="0"/>
          </a:p>
        </p:txBody>
      </p:sp>
    </p:spTree>
    <p:extLst>
      <p:ext uri="{BB962C8B-B14F-4D97-AF65-F5344CB8AC3E}">
        <p14:creationId xmlns:p14="http://schemas.microsoft.com/office/powerpoint/2010/main" val="7494036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12</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13</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14</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15</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16</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17</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pPr/>
              <a:t>18</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xmlns=""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xmlns=""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xmlns=""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xmlns=""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xmlns=""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xmlns=""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xmlns=""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xmlns=""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xmlns=""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xmlns=""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xmlns=""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xmlns=""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xmlns=""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xmlns=""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xmlns=""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xmlns=""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xmlns=""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xmlns=""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xmlns=""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xmlns=""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xmlns=""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xmlns=""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xmlns=""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xmlns=""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xmlns=""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xmlns=""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xmlns=""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xmlns=""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xmlns=""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xmlns=""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xmlns=""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xmlns=""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xmlns=""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xmlns=""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xmlns=""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xmlns=""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xmlns=""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xmlns=""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xmlns=""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xmlns=""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xmlns=""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xmlns=""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xmlns=""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xmlns=""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xmlns=""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xmlns=""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xmlns=""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xmlns=""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xmlns=""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xmlns=""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xmlns=""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xmlns=""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xmlns=""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xmlns=""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xmlns=""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xmlns=""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xmlns=""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xmlns=""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xmlns=""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xmlns=""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xmlns=""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xmlns=""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xmlns=""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xmlns=""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xmlns=""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xmlns=""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xmlns=""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xmlns=""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xmlns=""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xmlns=""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xmlns=""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xmlns=""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xmlns=""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xmlns=""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xmlns=""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xmlns=""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xmlns=""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xmlns=""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xmlns=""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xmlns=""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xmlns=""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xmlns=""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xmlns=""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xmlns=""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xmlns=""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xmlns=""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xmlns=""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xmlns=""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xmlns=""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xmlns=""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xmlns=""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xmlns=""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xmlns=""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xmlns=""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xmlns=""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xmlns=""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xmlns=""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xmlns=""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xmlns=""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xmlns=""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xmlns=""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xmlns=""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xmlns=""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xmlns=""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xmlns=""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xmlns=""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xmlns=""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xmlns=""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xmlns=""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xmlns=""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xmlns=""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xmlns=""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xmlns=""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xmlns=""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xmlns=""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xmlns=""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xmlns=""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xmlns=""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xmlns=""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xmlns=""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xmlns=""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xmlns=""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xmlns=""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xmlns=""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xmlns=""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xmlns=""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xmlns=""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xmlns=""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xmlns=""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xmlns=""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xmlns=""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xmlns=""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xmlns=""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xmlns=""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xmlns=""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xmlns=""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xmlns=""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xmlns=""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xmlns=""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xmlns=""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xmlns=""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xmlns=""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xmlns=""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xmlns=""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xmlns=""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xmlns=""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xmlns=""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xmlns=""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xmlns=""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xmlns=""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xmlns=""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xmlns=""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xmlns=""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xmlns=""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xmlns=""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xmlns=""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xmlns=""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xmlns=""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xmlns=""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xmlns=""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xmlns=""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xmlns=""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xmlns=""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xmlns=""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xmlns=""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xmlns=""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xmlns=""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xmlns=""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xmlns=""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xmlns=""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xmlns=""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xmlns=""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xmlns=""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xmlns=""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xmlns=""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xmlns=""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xmlns=""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xmlns=""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xmlns=""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xmlns=""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xmlns=""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xmlns=""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xmlns=""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xmlns=""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xmlns=""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xmlns=""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xmlns=""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xmlns=""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xmlns=""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xmlns=""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xmlns=""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xmlns=""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xmlns=""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xmlns=""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xmlns=""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xmlns=""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xmlns=""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xmlns=""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xmlns=""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xmlns=""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xmlns=""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xmlns=""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xmlns=""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xmlns=""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xmlns=""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xmlns=""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xmlns=""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xmlns=""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5.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17.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5.xml"/><Relationship Id="rId5" Type="http://schemas.openxmlformats.org/officeDocument/2006/relationships/image" Target="../media/image18.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microsoft.com/office/2007/relationships/hdphoto" Target="../media/hdphoto1.wdp"/><Relationship Id="rId5" Type="http://schemas.openxmlformats.org/officeDocument/2006/relationships/image" Target="../media/image19.png"/><Relationship Id="rId4" Type="http://schemas.openxmlformats.org/officeDocument/2006/relationships/hyperlink" Target="mailto:john@example.com"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5.xml"/><Relationship Id="rId6" Type="http://schemas.microsoft.com/office/2007/relationships/hdphoto" Target="../media/hdphoto1.wdp"/><Relationship Id="rId5" Type="http://schemas.openxmlformats.org/officeDocument/2006/relationships/image" Target="../media/image19.png"/><Relationship Id="rId4" Type="http://schemas.openxmlformats.org/officeDocument/2006/relationships/hyperlink" Target="mailto:john@example.com"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microsoft.com/office/2007/relationships/hdphoto" Target="../media/hdphoto1.wdp"/><Relationship Id="rId5" Type="http://schemas.openxmlformats.org/officeDocument/2006/relationships/image" Target="../media/image19.png"/><Relationship Id="rId4" Type="http://schemas.openxmlformats.org/officeDocument/2006/relationships/hyperlink" Target="mailto:admin@example.com"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5.xml"/><Relationship Id="rId5" Type="http://schemas.microsoft.com/office/2007/relationships/hdphoto" Target="../media/hdphoto1.wdp"/><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5.xml"/><Relationship Id="rId5" Type="http://schemas.microsoft.com/office/2007/relationships/hdphoto" Target="../media/hdphoto1.wdp"/><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jpeg"/><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image" Target="../media/image2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93A3B864-5E85-99D2-93E5-5CA1F4F35DC7}"/>
              </a:ext>
            </a:extLst>
          </p:cNvPr>
          <p:cNvSpPr>
            <a:spLocks noGrp="1"/>
          </p:cNvSpPr>
          <p:nvPr>
            <p:ph type="title"/>
          </p:nvPr>
        </p:nvSpPr>
        <p:spPr>
          <a:xfrm>
            <a:off x="1419449" y="2034851"/>
            <a:ext cx="5257793" cy="2057441"/>
          </a:xfrm>
        </p:spPr>
        <p:txBody>
          <a:bodyPr/>
          <a:lstStyle/>
          <a:p>
            <a:r>
              <a:rPr lang="en-US" dirty="0" smtClean="0"/>
              <a:t>Admission Portal </a:t>
            </a:r>
            <a:endParaRPr lang="en-US" dirty="0"/>
          </a:p>
        </p:txBody>
      </p:sp>
      <p:sp>
        <p:nvSpPr>
          <p:cNvPr id="9" name="Text Placeholder 8">
            <a:extLst>
              <a:ext uri="{FF2B5EF4-FFF2-40B4-BE49-F238E27FC236}">
                <a16:creationId xmlns:a16="http://schemas.microsoft.com/office/drawing/2014/main" xmlns="" id="{485E0237-B9A1-0B58-E0AA-05EF84817EB4}"/>
              </a:ext>
            </a:extLst>
          </p:cNvPr>
          <p:cNvSpPr>
            <a:spLocks noGrp="1"/>
          </p:cNvSpPr>
          <p:nvPr>
            <p:ph type="body" sz="quarter" idx="28"/>
          </p:nvPr>
        </p:nvSpPr>
        <p:spPr/>
        <p:txBody>
          <a:bodyPr/>
          <a:lstStyle/>
          <a:p>
            <a:r>
              <a:rPr lang="en-US" dirty="0" smtClean="0"/>
              <a:t>Software Engineering</a:t>
            </a:r>
            <a:endParaRPr lang="en-US" dirty="0"/>
          </a:p>
        </p:txBody>
      </p:sp>
      <p:sp>
        <p:nvSpPr>
          <p:cNvPr id="10" name="Freeform: Shape 11">
            <a:extLst>
              <a:ext uri="{FF2B5EF4-FFF2-40B4-BE49-F238E27FC236}">
                <a16:creationId xmlns:a16="http://schemas.microsoft.com/office/drawing/2014/main" xmlns="" id="{01A79B69-242C-3AEB-4A42-7A606A54C63A}"/>
              </a:ext>
              <a:ext uri="{C183D7F6-B498-43B3-948B-1728B52AA6E4}">
                <adec:decorative xmlns:adec="http://schemas.microsoft.com/office/drawing/2017/decorative" xmlns=""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xmlns="" id="{E5D4DE6D-89C8-6FFF-287D-3F3BAD416CA1}"/>
              </a:ext>
              <a:ext uri="{C183D7F6-B498-43B3-948B-1728B52AA6E4}">
                <adec:decorative xmlns:adec="http://schemas.microsoft.com/office/drawing/2017/decorative" xmlns=""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pic>
        <p:nvPicPr>
          <p:cNvPr id="11" name="Picture 10"/>
          <p:cNvPicPr/>
          <p:nvPr/>
        </p:nvPicPr>
        <p:blipFill>
          <a:blip r:embed="rId3">
            <a:extLst>
              <a:ext uri="{28A0092B-C50C-407E-A947-70E740481C1C}">
                <a14:useLocalDpi xmlns:a14="http://schemas.microsoft.com/office/drawing/2010/main" val="0"/>
              </a:ext>
            </a:extLst>
          </a:blip>
          <a:stretch>
            <a:fillRect/>
          </a:stretch>
        </p:blipFill>
        <p:spPr>
          <a:xfrm>
            <a:off x="6255143" y="2265771"/>
            <a:ext cx="5782486" cy="248425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8984479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xmlns="" id="{446CC6CC-33D7-4181-9969-72896FDB1901}"/>
              </a:ext>
            </a:extLst>
          </p:cNvPr>
          <p:cNvSpPr>
            <a:spLocks noGrp="1"/>
          </p:cNvSpPr>
          <p:nvPr>
            <p:ph type="title"/>
          </p:nvPr>
        </p:nvSpPr>
        <p:spPr/>
        <p:txBody>
          <a:bodyPr/>
          <a:lstStyle/>
          <a:p>
            <a:r>
              <a:rPr lang="en-US" dirty="0"/>
              <a:t>Meet our team</a:t>
            </a:r>
          </a:p>
        </p:txBody>
      </p:sp>
      <p:pic>
        <p:nvPicPr>
          <p:cNvPr id="55" name="Picture Placeholder 54">
            <a:extLst>
              <a:ext uri="{FF2B5EF4-FFF2-40B4-BE49-F238E27FC236}">
                <a16:creationId xmlns:a16="http://schemas.microsoft.com/office/drawing/2014/main" xmlns="" id="{4B0A05F6-A265-D617-87EB-C8B6D39D74EB}"/>
              </a:ext>
            </a:extLst>
          </p:cNvPr>
          <p:cNvPicPr>
            <a:picLocks noGrp="1" noChangeAspect="1"/>
          </p:cNvPicPr>
          <p:nvPr>
            <p:ph type="pic" sz="quarter" idx="48"/>
          </p:nvPr>
        </p:nvPicPr>
        <p:blipFill>
          <a:blip r:embed="rId3">
            <a:extLst>
              <a:ext uri="{28A0092B-C50C-407E-A947-70E740481C1C}">
                <a14:useLocalDpi xmlns:a14="http://schemas.microsoft.com/office/drawing/2010/main" val="0"/>
              </a:ext>
            </a:extLst>
          </a:blip>
          <a:stretch>
            <a:fillRect/>
          </a:stretch>
        </p:blipFill>
        <p:spPr>
          <a:xfrm>
            <a:off x="1510244" y="2560353"/>
            <a:ext cx="1577168" cy="2102177"/>
          </a:xfrm>
        </p:spPr>
      </p:pic>
      <p:sp>
        <p:nvSpPr>
          <p:cNvPr id="3" name="Text Placeholder 2">
            <a:extLst>
              <a:ext uri="{FF2B5EF4-FFF2-40B4-BE49-F238E27FC236}">
                <a16:creationId xmlns:a16="http://schemas.microsoft.com/office/drawing/2014/main" xmlns="" id="{DB6BD53F-D255-3797-F9DC-749DBF8EDF8B}"/>
              </a:ext>
            </a:extLst>
          </p:cNvPr>
          <p:cNvSpPr>
            <a:spLocks noGrp="1"/>
          </p:cNvSpPr>
          <p:nvPr>
            <p:ph type="body" sz="quarter" idx="27"/>
          </p:nvPr>
        </p:nvSpPr>
        <p:spPr/>
        <p:txBody>
          <a:bodyPr/>
          <a:lstStyle/>
          <a:p>
            <a:r>
              <a:rPr lang="en-US" dirty="0" smtClean="0"/>
              <a:t>Samia Azhar</a:t>
            </a:r>
            <a:endParaRPr lang="en-US" dirty="0"/>
          </a:p>
        </p:txBody>
      </p:sp>
      <p:pic>
        <p:nvPicPr>
          <p:cNvPr id="52" name="Picture Placeholder 51">
            <a:extLst>
              <a:ext uri="{FF2B5EF4-FFF2-40B4-BE49-F238E27FC236}">
                <a16:creationId xmlns:a16="http://schemas.microsoft.com/office/drawing/2014/main" xmlns="" id="{6FA36B7F-14F3-90DF-9E76-191C5C5FAC68}"/>
              </a:ext>
            </a:extLst>
          </p:cNvPr>
          <p:cNvPicPr>
            <a:picLocks noGrp="1" noChangeAspect="1"/>
          </p:cNvPicPr>
          <p:nvPr>
            <p:ph type="pic" sz="quarter" idx="49"/>
          </p:nvPr>
        </p:nvPicPr>
        <p:blipFill>
          <a:blip r:embed="rId4">
            <a:extLst>
              <a:ext uri="{28A0092B-C50C-407E-A947-70E740481C1C}">
                <a14:useLocalDpi xmlns:a14="http://schemas.microsoft.com/office/drawing/2010/main" val="0"/>
              </a:ext>
            </a:extLst>
          </a:blip>
          <a:stretch>
            <a:fillRect/>
          </a:stretch>
        </p:blipFill>
        <p:spPr>
          <a:xfrm>
            <a:off x="4018982" y="1840730"/>
            <a:ext cx="1577168" cy="2102177"/>
          </a:xfrm>
        </p:spPr>
      </p:pic>
      <p:sp>
        <p:nvSpPr>
          <p:cNvPr id="9" name="Text Placeholder 8">
            <a:extLst>
              <a:ext uri="{FF2B5EF4-FFF2-40B4-BE49-F238E27FC236}">
                <a16:creationId xmlns:a16="http://schemas.microsoft.com/office/drawing/2014/main" xmlns="" id="{2C77216C-99F2-F20D-361E-FC77B2A1C2D5}"/>
              </a:ext>
            </a:extLst>
          </p:cNvPr>
          <p:cNvSpPr>
            <a:spLocks noGrp="1"/>
          </p:cNvSpPr>
          <p:nvPr>
            <p:ph type="body" sz="quarter" idx="54"/>
          </p:nvPr>
        </p:nvSpPr>
        <p:spPr/>
        <p:txBody>
          <a:bodyPr/>
          <a:lstStyle/>
          <a:p>
            <a:r>
              <a:rPr lang="en-US" dirty="0" smtClean="0"/>
              <a:t>Saba Faryal</a:t>
            </a:r>
            <a:endParaRPr lang="en-US" dirty="0"/>
          </a:p>
        </p:txBody>
      </p:sp>
      <p:pic>
        <p:nvPicPr>
          <p:cNvPr id="49" name="Picture Placeholder 48">
            <a:extLst>
              <a:ext uri="{FF2B5EF4-FFF2-40B4-BE49-F238E27FC236}">
                <a16:creationId xmlns:a16="http://schemas.microsoft.com/office/drawing/2014/main" xmlns="" id="{554A63EA-7896-2DED-D661-BA5C81B77241}"/>
              </a:ext>
            </a:extLst>
          </p:cNvPr>
          <p:cNvPicPr>
            <a:picLocks noGrp="1" noChangeAspect="1"/>
          </p:cNvPicPr>
          <p:nvPr>
            <p:ph type="pic" sz="quarter" idx="50"/>
          </p:nvPr>
        </p:nvPicPr>
        <p:blipFill>
          <a:blip r:embed="rId5">
            <a:extLst>
              <a:ext uri="{28A0092B-C50C-407E-A947-70E740481C1C}">
                <a14:useLocalDpi xmlns:a14="http://schemas.microsoft.com/office/drawing/2010/main" val="0"/>
              </a:ext>
            </a:extLst>
          </a:blip>
          <a:stretch>
            <a:fillRect/>
          </a:stretch>
        </p:blipFill>
        <p:spPr>
          <a:xfrm>
            <a:off x="6508847" y="2560353"/>
            <a:ext cx="1577168" cy="2102177"/>
          </a:xfrm>
        </p:spPr>
      </p:pic>
      <p:sp>
        <p:nvSpPr>
          <p:cNvPr id="22" name="Text Placeholder 21">
            <a:extLst>
              <a:ext uri="{FF2B5EF4-FFF2-40B4-BE49-F238E27FC236}">
                <a16:creationId xmlns:a16="http://schemas.microsoft.com/office/drawing/2014/main" xmlns="" id="{A386226D-550B-455D-862A-19F0F7E85FDF}"/>
              </a:ext>
            </a:extLst>
          </p:cNvPr>
          <p:cNvSpPr>
            <a:spLocks noGrp="1"/>
          </p:cNvSpPr>
          <p:nvPr>
            <p:ph type="body" sz="quarter" idx="52"/>
          </p:nvPr>
        </p:nvSpPr>
        <p:spPr/>
        <p:txBody>
          <a:bodyPr/>
          <a:lstStyle/>
          <a:p>
            <a:r>
              <a:rPr lang="en-US" dirty="0" smtClean="0"/>
              <a:t>Umber Gull</a:t>
            </a:r>
            <a:endParaRPr lang="en-US" dirty="0"/>
          </a:p>
        </p:txBody>
      </p:sp>
      <p:pic>
        <p:nvPicPr>
          <p:cNvPr id="46" name="Picture Placeholder 45">
            <a:extLst>
              <a:ext uri="{FF2B5EF4-FFF2-40B4-BE49-F238E27FC236}">
                <a16:creationId xmlns:a16="http://schemas.microsoft.com/office/drawing/2014/main" xmlns="" id="{51777469-AD50-4BAD-6B31-B56D669485CE}"/>
              </a:ext>
            </a:extLst>
          </p:cNvPr>
          <p:cNvPicPr>
            <a:picLocks noGrp="1" noChangeAspect="1"/>
          </p:cNvPicPr>
          <p:nvPr>
            <p:ph type="pic" sz="quarter" idx="51"/>
          </p:nvPr>
        </p:nvPicPr>
        <p:blipFill>
          <a:blip r:embed="rId6">
            <a:extLst>
              <a:ext uri="{28A0092B-C50C-407E-A947-70E740481C1C}">
                <a14:useLocalDpi xmlns:a14="http://schemas.microsoft.com/office/drawing/2010/main" val="0"/>
              </a:ext>
            </a:extLst>
          </a:blip>
          <a:stretch>
            <a:fillRect/>
          </a:stretch>
        </p:blipFill>
        <p:spPr>
          <a:xfrm>
            <a:off x="8895774" y="1836331"/>
            <a:ext cx="1577168" cy="2102177"/>
          </a:xfrm>
        </p:spPr>
      </p:pic>
      <p:sp>
        <p:nvSpPr>
          <p:cNvPr id="26" name="Text Placeholder 25">
            <a:extLst>
              <a:ext uri="{FF2B5EF4-FFF2-40B4-BE49-F238E27FC236}">
                <a16:creationId xmlns:a16="http://schemas.microsoft.com/office/drawing/2014/main" xmlns="" id="{D32E8129-4557-FB4F-128A-16770815B5B8}"/>
              </a:ext>
            </a:extLst>
          </p:cNvPr>
          <p:cNvSpPr>
            <a:spLocks noGrp="1"/>
          </p:cNvSpPr>
          <p:nvPr>
            <p:ph type="body" sz="quarter" idx="56"/>
          </p:nvPr>
        </p:nvSpPr>
        <p:spPr/>
        <p:txBody>
          <a:bodyPr/>
          <a:lstStyle/>
          <a:p>
            <a:r>
              <a:rPr lang="en-US" dirty="0" smtClean="0"/>
              <a:t>Ghania Naveed</a:t>
            </a:r>
            <a:endParaRPr lang="en-US" dirty="0"/>
          </a:p>
        </p:txBody>
      </p:sp>
      <p:sp>
        <p:nvSpPr>
          <p:cNvPr id="6" name="Footer Placeholder 5">
            <a:extLst>
              <a:ext uri="{FF2B5EF4-FFF2-40B4-BE49-F238E27FC236}">
                <a16:creationId xmlns:a16="http://schemas.microsoft.com/office/drawing/2014/main" xmlns="" id="{0FAB8CE6-4705-57FA-7F0F-F4A5C574996B}"/>
              </a:ext>
            </a:extLst>
          </p:cNvPr>
          <p:cNvSpPr>
            <a:spLocks noGrp="1"/>
          </p:cNvSpPr>
          <p:nvPr>
            <p:ph type="ftr" sz="quarter" idx="58"/>
          </p:nvPr>
        </p:nvSpPr>
        <p:spPr/>
        <p:txBody>
          <a:bodyPr/>
          <a:lstStyle/>
          <a:p>
            <a:r>
              <a:rPr lang="en-US" dirty="0" smtClean="0"/>
              <a:t>Admission Portal</a:t>
            </a:r>
            <a:endParaRPr lang="en-US" dirty="0"/>
          </a:p>
        </p:txBody>
      </p:sp>
      <p:sp>
        <p:nvSpPr>
          <p:cNvPr id="7" name="Slide Number Placeholder 6">
            <a:extLst>
              <a:ext uri="{FF2B5EF4-FFF2-40B4-BE49-F238E27FC236}">
                <a16:creationId xmlns:a16="http://schemas.microsoft.com/office/drawing/2014/main" xmlns="" id="{7930A8DD-65EB-D1E9-81DF-DAAA9451B1A9}"/>
              </a:ext>
            </a:extLst>
          </p:cNvPr>
          <p:cNvSpPr>
            <a:spLocks noGrp="1"/>
          </p:cNvSpPr>
          <p:nvPr>
            <p:ph type="sldNum" sz="quarter" idx="59"/>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21078881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xmlns="" id="{5DF64211-DCD8-B458-DBD2-EBDA7AE3396F}"/>
              </a:ext>
            </a:extLst>
          </p:cNvPr>
          <p:cNvSpPr>
            <a:spLocks noGrp="1"/>
          </p:cNvSpPr>
          <p:nvPr>
            <p:ph type="title"/>
          </p:nvPr>
        </p:nvSpPr>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xmlns="" id="{8FEA3BB9-F064-CFBE-C0BE-BB7A22A4DCFC}"/>
              </a:ext>
            </a:extLst>
          </p:cNvPr>
          <p:cNvSpPr>
            <a:spLocks noGrp="1"/>
          </p:cNvSpPr>
          <p:nvPr>
            <p:ph type="body" sz="quarter" idx="28"/>
          </p:nvPr>
        </p:nvSpPr>
        <p:spPr/>
        <p:txBody>
          <a:bodyPr/>
          <a:lstStyle/>
          <a:p>
            <a:r>
              <a:rPr lang="en-US" dirty="0"/>
              <a:t>Introduction</a:t>
            </a:r>
          </a:p>
        </p:txBody>
      </p:sp>
      <p:sp>
        <p:nvSpPr>
          <p:cNvPr id="9" name="Text Placeholder 8">
            <a:extLst>
              <a:ext uri="{FF2B5EF4-FFF2-40B4-BE49-F238E27FC236}">
                <a16:creationId xmlns:a16="http://schemas.microsoft.com/office/drawing/2014/main" xmlns="" id="{78024C77-A2F8-1ABA-5412-E6BB88B5FA1B}"/>
              </a:ext>
            </a:extLst>
          </p:cNvPr>
          <p:cNvSpPr>
            <a:spLocks noGrp="1"/>
          </p:cNvSpPr>
          <p:nvPr>
            <p:ph type="body" sz="quarter" idx="29"/>
          </p:nvPr>
        </p:nvSpPr>
        <p:spPr/>
        <p:txBody>
          <a:bodyPr/>
          <a:lstStyle/>
          <a:p>
            <a:r>
              <a:rPr lang="en-US" dirty="0" smtClean="0"/>
              <a:t>Requirements</a:t>
            </a:r>
            <a:endParaRPr lang="en-US" dirty="0"/>
          </a:p>
        </p:txBody>
      </p:sp>
      <p:sp>
        <p:nvSpPr>
          <p:cNvPr id="18" name="Text Placeholder 17">
            <a:extLst>
              <a:ext uri="{FF2B5EF4-FFF2-40B4-BE49-F238E27FC236}">
                <a16:creationId xmlns:a16="http://schemas.microsoft.com/office/drawing/2014/main" xmlns="" id="{241202DB-E499-EB19-8A48-A3301DA59ED7}"/>
              </a:ext>
            </a:extLst>
          </p:cNvPr>
          <p:cNvSpPr>
            <a:spLocks noGrp="1"/>
          </p:cNvSpPr>
          <p:nvPr>
            <p:ph type="body" sz="quarter" idx="30"/>
          </p:nvPr>
        </p:nvSpPr>
        <p:spPr/>
        <p:txBody>
          <a:bodyPr/>
          <a:lstStyle/>
          <a:p>
            <a:r>
              <a:rPr lang="en-US" dirty="0" smtClean="0"/>
              <a:t>UseCase</a:t>
            </a:r>
            <a:endParaRPr lang="en-US" dirty="0"/>
          </a:p>
        </p:txBody>
      </p:sp>
      <p:sp>
        <p:nvSpPr>
          <p:cNvPr id="22" name="Text Placeholder 21">
            <a:extLst>
              <a:ext uri="{FF2B5EF4-FFF2-40B4-BE49-F238E27FC236}">
                <a16:creationId xmlns:a16="http://schemas.microsoft.com/office/drawing/2014/main" xmlns="" id="{D5402852-C1AD-6A4E-DAA7-0AE582A742FD}"/>
              </a:ext>
            </a:extLst>
          </p:cNvPr>
          <p:cNvSpPr>
            <a:spLocks noGrp="1"/>
          </p:cNvSpPr>
          <p:nvPr>
            <p:ph type="body" sz="quarter" idx="31"/>
          </p:nvPr>
        </p:nvSpPr>
        <p:spPr/>
        <p:txBody>
          <a:bodyPr/>
          <a:lstStyle/>
          <a:p>
            <a:r>
              <a:rPr lang="en-US" dirty="0" smtClean="0"/>
              <a:t>Activity Diagram</a:t>
            </a:r>
            <a:endParaRPr lang="en-US" dirty="0"/>
          </a:p>
        </p:txBody>
      </p:sp>
      <p:sp>
        <p:nvSpPr>
          <p:cNvPr id="24" name="Text Placeholder 23">
            <a:extLst>
              <a:ext uri="{FF2B5EF4-FFF2-40B4-BE49-F238E27FC236}">
                <a16:creationId xmlns:a16="http://schemas.microsoft.com/office/drawing/2014/main" xmlns="" id="{ABF1D337-2A3C-A0FB-A6CD-5E4B9D6DFD91}"/>
              </a:ext>
            </a:extLst>
          </p:cNvPr>
          <p:cNvSpPr>
            <a:spLocks noGrp="1"/>
          </p:cNvSpPr>
          <p:nvPr>
            <p:ph type="body" sz="quarter" idx="32"/>
          </p:nvPr>
        </p:nvSpPr>
        <p:spPr/>
        <p:txBody>
          <a:bodyPr/>
          <a:lstStyle/>
          <a:p>
            <a:r>
              <a:rPr lang="en-US" dirty="0" smtClean="0"/>
              <a:t>Test case </a:t>
            </a:r>
          </a:p>
        </p:txBody>
      </p:sp>
      <p:sp>
        <p:nvSpPr>
          <p:cNvPr id="21" name="Footer Placeholder 19">
            <a:extLst>
              <a:ext uri="{FF2B5EF4-FFF2-40B4-BE49-F238E27FC236}">
                <a16:creationId xmlns:a16="http://schemas.microsoft.com/office/drawing/2014/main" xmlns=""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8" name="Footer Placeholder 7">
            <a:extLst>
              <a:ext uri="{FF2B5EF4-FFF2-40B4-BE49-F238E27FC236}">
                <a16:creationId xmlns:a16="http://schemas.microsoft.com/office/drawing/2014/main" xmlns="" id="{D36D0CF6-7418-9349-F7A8-045EA96B2D03}"/>
              </a:ext>
            </a:extLst>
          </p:cNvPr>
          <p:cNvSpPr>
            <a:spLocks noGrp="1"/>
          </p:cNvSpPr>
          <p:nvPr>
            <p:ph type="ftr" sz="quarter" idx="33"/>
          </p:nvPr>
        </p:nvSpPr>
        <p:spPr/>
        <p:txBody>
          <a:bodyPr/>
          <a:lstStyle/>
          <a:p>
            <a:r>
              <a:rPr lang="en-US" dirty="0" smtClean="0"/>
              <a:t>Admission Portal</a:t>
            </a:r>
            <a:endParaRPr lang="en-US" dirty="0"/>
          </a:p>
        </p:txBody>
      </p:sp>
      <p:sp>
        <p:nvSpPr>
          <p:cNvPr id="10" name="Slide Number Placeholder 9">
            <a:extLst>
              <a:ext uri="{FF2B5EF4-FFF2-40B4-BE49-F238E27FC236}">
                <a16:creationId xmlns:a16="http://schemas.microsoft.com/office/drawing/2014/main" xmlns="" id="{CBE681AB-301C-4DC8-7FBD-FAA2CC6606AE}"/>
              </a:ext>
            </a:extLst>
          </p:cNvPr>
          <p:cNvSpPr>
            <a:spLocks noGrp="1"/>
          </p:cNvSpPr>
          <p:nvPr>
            <p:ph type="sldNum" sz="quarter" idx="34"/>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2775535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xmlns="" id="{81D18537-D028-9E9C-FB87-93F24955DFC7}"/>
              </a:ext>
            </a:extLst>
          </p:cNvPr>
          <p:cNvSpPr>
            <a:spLocks noGrp="1"/>
          </p:cNvSpPr>
          <p:nvPr>
            <p:ph type="title"/>
          </p:nvPr>
        </p:nvSpPr>
        <p:spPr/>
        <p:txBody>
          <a:bodyPr/>
          <a:lstStyle/>
          <a:p>
            <a:r>
              <a:rPr lang="en-US" altLang="zh-CN" dirty="0"/>
              <a:t>Introduction</a:t>
            </a:r>
            <a:endParaRPr lang="en-US" dirty="0"/>
          </a:p>
        </p:txBody>
      </p:sp>
      <p:sp>
        <p:nvSpPr>
          <p:cNvPr id="20" name="Text Placeholder 19">
            <a:extLst>
              <a:ext uri="{FF2B5EF4-FFF2-40B4-BE49-F238E27FC236}">
                <a16:creationId xmlns:a16="http://schemas.microsoft.com/office/drawing/2014/main" xmlns="" id="{CC0093B1-77CC-1E61-FB22-E136F94EABD2}"/>
              </a:ext>
            </a:extLst>
          </p:cNvPr>
          <p:cNvSpPr>
            <a:spLocks noGrp="1"/>
          </p:cNvSpPr>
          <p:nvPr>
            <p:ph type="body" sz="quarter" idx="28"/>
          </p:nvPr>
        </p:nvSpPr>
        <p:spPr>
          <a:xfrm>
            <a:off x="509573" y="3435546"/>
            <a:ext cx="4284495" cy="1658968"/>
          </a:xfrm>
        </p:spPr>
        <p:txBody>
          <a:bodyPr/>
          <a:lstStyle/>
          <a:p>
            <a:r>
              <a:rPr lang="en-US" sz="1800" dirty="0"/>
              <a:t>This </a:t>
            </a:r>
            <a:r>
              <a:rPr lang="en-US" sz="1800" dirty="0" smtClean="0"/>
              <a:t>project outlines </a:t>
            </a:r>
            <a:r>
              <a:rPr lang="en-US" sz="1800" dirty="0"/>
              <a:t>the requirements for an </a:t>
            </a:r>
            <a:r>
              <a:rPr lang="en-US" sz="1800" dirty="0" smtClean="0"/>
              <a:t>Online Admission Portal </a:t>
            </a:r>
            <a:r>
              <a:rPr lang="en-US" sz="1800" dirty="0"/>
              <a:t>for a university. The system will be used by </a:t>
            </a:r>
            <a:r>
              <a:rPr lang="en-US" sz="1800" dirty="0" smtClean="0"/>
              <a:t>student </a:t>
            </a:r>
            <a:r>
              <a:rPr lang="en-US" sz="1800" dirty="0"/>
              <a:t>to manage the admission process for new students</a:t>
            </a:r>
          </a:p>
        </p:txBody>
      </p:sp>
      <p:sp>
        <p:nvSpPr>
          <p:cNvPr id="4" name="Footer Placeholder 3">
            <a:extLst>
              <a:ext uri="{FF2B5EF4-FFF2-40B4-BE49-F238E27FC236}">
                <a16:creationId xmlns:a16="http://schemas.microsoft.com/office/drawing/2014/main" xmlns="" id="{0A01EC1F-42C9-66C4-9D49-F6AF79D5BE91}"/>
              </a:ext>
            </a:extLst>
          </p:cNvPr>
          <p:cNvSpPr>
            <a:spLocks noGrp="1"/>
          </p:cNvSpPr>
          <p:nvPr>
            <p:ph type="ftr" sz="quarter" idx="52"/>
          </p:nvPr>
        </p:nvSpPr>
        <p:spPr/>
        <p:txBody>
          <a:bodyPr/>
          <a:lstStyle/>
          <a:p>
            <a:r>
              <a:rPr lang="en-US" dirty="0" smtClean="0"/>
              <a:t>Admission Portal </a:t>
            </a:r>
            <a:endParaRPr lang="en-US" dirty="0"/>
          </a:p>
        </p:txBody>
      </p:sp>
      <p:sp>
        <p:nvSpPr>
          <p:cNvPr id="6" name="Freeform: Shape 5">
            <a:extLst>
              <a:ext uri="{FF2B5EF4-FFF2-40B4-BE49-F238E27FC236}">
                <a16:creationId xmlns:a16="http://schemas.microsoft.com/office/drawing/2014/main" xmlns="" id="{D91FB993-29E1-3DBD-8335-7970016F8DE7}"/>
              </a:ext>
              <a:ext uri="{C183D7F6-B498-43B3-948B-1728B52AA6E4}">
                <adec:decorative xmlns:adec="http://schemas.microsoft.com/office/drawing/2017/decorative" xmlns=""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xmlns="" id="{7D6767F8-4670-E83D-85F4-1446B8B9D466}"/>
              </a:ext>
            </a:extLst>
          </p:cNvPr>
          <p:cNvSpPr>
            <a:spLocks noGrp="1"/>
          </p:cNvSpPr>
          <p:nvPr>
            <p:ph type="sldNum" sz="quarter" idx="53"/>
          </p:nvPr>
        </p:nvSpPr>
        <p:spPr/>
        <p:txBody>
          <a:bodyPr/>
          <a:lstStyle/>
          <a:p>
            <a:fld id="{47FEACEE-25B4-4A2D-B147-27296E36371D}" type="slidenum">
              <a:rPr lang="en-US" altLang="zh-CN" smtClean="0"/>
              <a:pPr/>
              <a:t>4</a:t>
            </a:fld>
            <a:endParaRPr lang="en-US" altLang="zh-CN" dirty="0"/>
          </a:p>
        </p:txBody>
      </p:sp>
      <p:pic>
        <p:nvPicPr>
          <p:cNvPr id="3074" name="Picture 2" descr="Online Admission Porta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2303" y="1632057"/>
            <a:ext cx="6480569" cy="364532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a:extLst/>
        </p:spPr>
      </p:pic>
    </p:spTree>
    <p:extLst>
      <p:ext uri="{BB962C8B-B14F-4D97-AF65-F5344CB8AC3E}">
        <p14:creationId xmlns:p14="http://schemas.microsoft.com/office/powerpoint/2010/main" val="77554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721E73BA-53B9-C0C1-476A-00736A64AB79}"/>
              </a:ext>
            </a:extLst>
          </p:cNvPr>
          <p:cNvSpPr>
            <a:spLocks noGrp="1"/>
          </p:cNvSpPr>
          <p:nvPr>
            <p:ph type="title"/>
          </p:nvPr>
        </p:nvSpPr>
        <p:spPr/>
        <p:txBody>
          <a:bodyPr/>
          <a:lstStyle/>
          <a:p>
            <a:r>
              <a:rPr lang="en-US" dirty="0" smtClean="0"/>
              <a:t>Requirements</a:t>
            </a:r>
            <a:endParaRPr lang="en-US" dirty="0"/>
          </a:p>
        </p:txBody>
      </p:sp>
      <p:sp>
        <p:nvSpPr>
          <p:cNvPr id="10" name="Text Placeholder 9">
            <a:extLst>
              <a:ext uri="{FF2B5EF4-FFF2-40B4-BE49-F238E27FC236}">
                <a16:creationId xmlns:a16="http://schemas.microsoft.com/office/drawing/2014/main" xmlns="" id="{4CE5DE1C-24E7-3841-9376-89E91B4A4762}"/>
              </a:ext>
            </a:extLst>
          </p:cNvPr>
          <p:cNvSpPr>
            <a:spLocks noGrp="1"/>
          </p:cNvSpPr>
          <p:nvPr>
            <p:ph type="body" sz="quarter" idx="28"/>
          </p:nvPr>
        </p:nvSpPr>
        <p:spPr>
          <a:xfrm>
            <a:off x="5201728" y="1995281"/>
            <a:ext cx="5162709" cy="1897450"/>
          </a:xfrm>
        </p:spPr>
        <p:txBody>
          <a:bodyPr/>
          <a:lstStyle/>
          <a:p>
            <a:pPr marL="0" indent="0">
              <a:buFont typeface="Wingdings" pitchFamily="2" charset="2"/>
              <a:buChar char="§"/>
            </a:pPr>
            <a:r>
              <a:rPr lang="en-US" sz="1600" b="1" dirty="0" smtClean="0"/>
              <a:t>Register  Students</a:t>
            </a:r>
          </a:p>
          <a:p>
            <a:pPr marL="0" indent="0">
              <a:buFont typeface="Wingdings" pitchFamily="2" charset="2"/>
              <a:buChar char="§"/>
            </a:pPr>
            <a:r>
              <a:rPr lang="en-US" sz="1600" b="1" dirty="0" smtClean="0"/>
              <a:t> View Grades</a:t>
            </a:r>
          </a:p>
          <a:p>
            <a:pPr marL="0" indent="0">
              <a:buFont typeface="Wingdings" pitchFamily="2" charset="2"/>
              <a:buChar char="§"/>
            </a:pPr>
            <a:r>
              <a:rPr lang="en-US" sz="1600" b="1" dirty="0" smtClean="0"/>
              <a:t>Display Enrolled students</a:t>
            </a:r>
          </a:p>
          <a:p>
            <a:pPr marL="0" indent="0">
              <a:buFont typeface="Wingdings" pitchFamily="2" charset="2"/>
              <a:buChar char="§"/>
            </a:pPr>
            <a:r>
              <a:rPr lang="en-US" sz="1600" b="1" dirty="0" smtClean="0"/>
              <a:t>Search for Students</a:t>
            </a:r>
          </a:p>
          <a:p>
            <a:pPr marL="0" indent="0">
              <a:buFont typeface="Wingdings" pitchFamily="2" charset="2"/>
              <a:buChar char="§"/>
            </a:pPr>
            <a:r>
              <a:rPr lang="en-US" sz="1600" b="1" dirty="0" smtClean="0"/>
              <a:t> Check Eligible/Ineligible Students</a:t>
            </a:r>
          </a:p>
          <a:p>
            <a:pPr marL="0" indent="0">
              <a:buFont typeface="Wingdings" pitchFamily="2" charset="2"/>
              <a:buChar char="§"/>
            </a:pPr>
            <a:r>
              <a:rPr lang="en-US" sz="1600" b="1" dirty="0" smtClean="0"/>
              <a:t>Reporting</a:t>
            </a:r>
          </a:p>
          <a:p>
            <a:pPr marL="0" indent="0">
              <a:buNone/>
            </a:pPr>
            <a:r>
              <a:rPr lang="en-US" sz="1600" b="1" dirty="0" smtClean="0"/>
              <a:t> </a:t>
            </a:r>
            <a:r>
              <a:rPr lang="en-US" sz="2400" b="1" dirty="0" smtClean="0">
                <a:solidFill>
                  <a:schemeClr val="tx1"/>
                </a:solidFill>
              </a:rPr>
              <a:t>Non</a:t>
            </a:r>
            <a:r>
              <a:rPr lang="en-US" sz="1600" b="1" dirty="0" smtClean="0"/>
              <a:t> </a:t>
            </a:r>
            <a:r>
              <a:rPr lang="en-US" sz="2400" b="1" dirty="0" smtClean="0">
                <a:solidFill>
                  <a:schemeClr val="tx1"/>
                </a:solidFill>
                <a:latin typeface="+mj-lt"/>
                <a:ea typeface="微软雅黑"/>
                <a:cs typeface="Posterama" panose="020B0504020200020000" pitchFamily="34" charset="0"/>
              </a:rPr>
              <a:t>Functional Requirements</a:t>
            </a:r>
          </a:p>
          <a:p>
            <a:endParaRPr lang="en-US" sz="2400" b="1" dirty="0" smtClean="0">
              <a:latin typeface="+mj-lt"/>
              <a:ea typeface="Microsoft YaHei Light" pitchFamily="34" charset="-122"/>
            </a:endParaRPr>
          </a:p>
        </p:txBody>
      </p:sp>
      <p:sp>
        <p:nvSpPr>
          <p:cNvPr id="5" name="Slide Number Placeholder 4">
            <a:extLst>
              <a:ext uri="{FF2B5EF4-FFF2-40B4-BE49-F238E27FC236}">
                <a16:creationId xmlns:a16="http://schemas.microsoft.com/office/drawing/2014/main" xmlns="" id="{FD96C503-BABC-632E-06CA-12C8474920EB}"/>
              </a:ext>
            </a:extLst>
          </p:cNvPr>
          <p:cNvSpPr>
            <a:spLocks noGrp="1"/>
          </p:cNvSpPr>
          <p:nvPr>
            <p:ph type="sldNum" sz="quarter" idx="40"/>
          </p:nvPr>
        </p:nvSpPr>
        <p:spPr/>
        <p:txBody>
          <a:bodyPr/>
          <a:lstStyle/>
          <a:p>
            <a:fld id="{47FEACEE-25B4-4A2D-B147-27296E36371D}" type="slidenum">
              <a:rPr lang="en-US" altLang="zh-CN" smtClean="0"/>
              <a:pPr/>
              <a:t>5</a:t>
            </a:fld>
            <a:endParaRPr lang="en-US" altLang="zh-CN" dirty="0"/>
          </a:p>
        </p:txBody>
      </p:sp>
      <p:sp>
        <p:nvSpPr>
          <p:cNvPr id="2" name="TextBox 1"/>
          <p:cNvSpPr txBox="1"/>
          <p:nvPr/>
        </p:nvSpPr>
        <p:spPr>
          <a:xfrm>
            <a:off x="5201728" y="1335664"/>
            <a:ext cx="4712981" cy="461665"/>
          </a:xfrm>
          <a:prstGeom prst="rect">
            <a:avLst/>
          </a:prstGeom>
        </p:spPr>
        <p:txBody>
          <a:bodyPr wrap="square" rtlCol="0">
            <a:spAutoFit/>
          </a:bodyPr>
          <a:lstStyle/>
          <a:p>
            <a:pPr marL="0" indent="0" algn="ctr">
              <a:lnSpc>
                <a:spcPct val="100000"/>
              </a:lnSpc>
              <a:spcBef>
                <a:spcPts val="0"/>
              </a:spcBef>
              <a:buFontTx/>
              <a:buNone/>
            </a:pPr>
            <a:r>
              <a:rPr lang="en-US" sz="2400" b="1" dirty="0" smtClean="0">
                <a:latin typeface="Posterama Text SemiBold"/>
                <a:ea typeface="微软雅黑"/>
                <a:cs typeface="Posterama" panose="020B0504020200020000" pitchFamily="34" charset="0"/>
              </a:rPr>
              <a:t>Functional Requirements</a:t>
            </a:r>
          </a:p>
        </p:txBody>
      </p:sp>
      <p:sp>
        <p:nvSpPr>
          <p:cNvPr id="3" name="Rectangle 2"/>
          <p:cNvSpPr/>
          <p:nvPr/>
        </p:nvSpPr>
        <p:spPr>
          <a:xfrm>
            <a:off x="5292182" y="4266061"/>
            <a:ext cx="6096000" cy="1754326"/>
          </a:xfrm>
          <a:prstGeom prst="rect">
            <a:avLst/>
          </a:prstGeom>
        </p:spPr>
        <p:txBody>
          <a:bodyPr>
            <a:spAutoFit/>
          </a:bodyPr>
          <a:lstStyle/>
          <a:p>
            <a:pPr lvl="0">
              <a:buFont typeface="Wingdings" pitchFamily="2" charset="2"/>
              <a:buChar char="§"/>
            </a:pPr>
            <a:r>
              <a:rPr lang="en-US" dirty="0" smtClean="0">
                <a:solidFill>
                  <a:schemeClr val="tx2"/>
                </a:solidFill>
                <a:latin typeface="Arial" pitchFamily="34" charset="0"/>
                <a:ea typeface="Microsoft YaHei Light" pitchFamily="34" charset="-122"/>
                <a:cs typeface="Arial" pitchFamily="34" charset="0"/>
              </a:rPr>
              <a:t>The system shall be user-friendly and easy to navigate.</a:t>
            </a:r>
          </a:p>
          <a:p>
            <a:pPr lvl="0">
              <a:buFont typeface="Wingdings" pitchFamily="2" charset="2"/>
              <a:buChar char="§"/>
            </a:pPr>
            <a:r>
              <a:rPr lang="en-US" dirty="0" smtClean="0">
                <a:solidFill>
                  <a:schemeClr val="tx2"/>
                </a:solidFill>
                <a:latin typeface="Arial" pitchFamily="34" charset="0"/>
                <a:ea typeface="Microsoft YaHei Light" pitchFamily="34" charset="-122"/>
                <a:cs typeface="Arial" pitchFamily="34" charset="0"/>
              </a:rPr>
              <a:t>The system shall be secure and protect the privacy of student data.</a:t>
            </a:r>
          </a:p>
          <a:p>
            <a:pPr lvl="0">
              <a:buFont typeface="Wingdings" pitchFamily="2" charset="2"/>
              <a:buChar char="§"/>
            </a:pPr>
            <a:r>
              <a:rPr lang="en-US" dirty="0" smtClean="0">
                <a:solidFill>
                  <a:schemeClr val="tx2"/>
                </a:solidFill>
                <a:latin typeface="Arial" pitchFamily="34" charset="0"/>
                <a:ea typeface="Microsoft YaHei Light" pitchFamily="34" charset="-122"/>
                <a:cs typeface="Arial" pitchFamily="34" charset="0"/>
              </a:rPr>
              <a:t>The </a:t>
            </a:r>
            <a:r>
              <a:rPr lang="en-US" sz="1600" dirty="0" smtClean="0">
                <a:solidFill>
                  <a:schemeClr val="tx2"/>
                </a:solidFill>
                <a:latin typeface="Arial" pitchFamily="34" charset="0"/>
                <a:ea typeface="Microsoft YaHei Light" pitchFamily="34" charset="-122"/>
                <a:cs typeface="Arial" pitchFamily="34" charset="0"/>
              </a:rPr>
              <a:t>system</a:t>
            </a:r>
            <a:r>
              <a:rPr lang="en-US" dirty="0" smtClean="0">
                <a:solidFill>
                  <a:schemeClr val="tx2"/>
                </a:solidFill>
                <a:latin typeface="Arial" pitchFamily="34" charset="0"/>
                <a:ea typeface="Microsoft YaHei Light" pitchFamily="34" charset="-122"/>
                <a:cs typeface="Arial" pitchFamily="34" charset="0"/>
              </a:rPr>
              <a:t> shall be available 24/7.</a:t>
            </a:r>
          </a:p>
          <a:p>
            <a:pPr lvl="0">
              <a:buFont typeface="Wingdings" pitchFamily="2" charset="2"/>
              <a:buChar char="§"/>
            </a:pPr>
            <a:r>
              <a:rPr lang="en-US" dirty="0" smtClean="0">
                <a:solidFill>
                  <a:schemeClr val="tx2"/>
                </a:solidFill>
                <a:latin typeface="Arial" pitchFamily="34" charset="0"/>
                <a:ea typeface="Microsoft YaHei Light" pitchFamily="34" charset="-122"/>
                <a:cs typeface="Arial" pitchFamily="34" charset="0"/>
              </a:rPr>
              <a:t>The system shall be able to handle a large number of concurrent users.</a:t>
            </a:r>
          </a:p>
        </p:txBody>
      </p:sp>
    </p:spTree>
    <p:extLst>
      <p:ext uri="{BB962C8B-B14F-4D97-AF65-F5344CB8AC3E}">
        <p14:creationId xmlns:p14="http://schemas.microsoft.com/office/powerpoint/2010/main" val="25197270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85">
            <a:extLst>
              <a:ext uri="{FF2B5EF4-FFF2-40B4-BE49-F238E27FC236}">
                <a16:creationId xmlns:a16="http://schemas.microsoft.com/office/drawing/2014/main" xmlns="" id="{1E3F7726-AC85-55B8-BDED-51E7BA85CD1C}"/>
              </a:ext>
            </a:extLst>
          </p:cNvPr>
          <p:cNvSpPr>
            <a:spLocks noGrp="1"/>
          </p:cNvSpPr>
          <p:nvPr>
            <p:ph type="title"/>
          </p:nvPr>
        </p:nvSpPr>
        <p:spPr/>
        <p:txBody>
          <a:bodyPr/>
          <a:lstStyle/>
          <a:p>
            <a:r>
              <a:rPr lang="en-US" dirty="0"/>
              <a:t>Plan for </a:t>
            </a:r>
            <a:r>
              <a:rPr lang="en-US" dirty="0" smtClean="0"/>
              <a:t>our system</a:t>
            </a:r>
            <a:endParaRPr lang="en-US" dirty="0"/>
          </a:p>
        </p:txBody>
      </p:sp>
      <p:pic>
        <p:nvPicPr>
          <p:cNvPr id="8" name="Picture Placeholder 7" descr="Businesswoman reviewing sticky notes on a wall">
            <a:extLst>
              <a:ext uri="{FF2B5EF4-FFF2-40B4-BE49-F238E27FC236}">
                <a16:creationId xmlns:a16="http://schemas.microsoft.com/office/drawing/2014/main" xmlns="" id="{66D3A5E9-F687-402F-8477-EE4CD418CA67}"/>
              </a:ext>
            </a:extLst>
          </p:cNvPr>
          <p:cNvPicPr>
            <a:picLocks noGrp="1" noChangeAspect="1"/>
          </p:cNvPicPr>
          <p:nvPr>
            <p:ph type="pic" sz="quarter" idx="57"/>
          </p:nvPr>
        </p:nvPicPr>
        <p:blipFill>
          <a:blip r:embed="rId3" cstate="print">
            <a:extLst>
              <a:ext uri="{28A0092B-C50C-407E-A947-70E740481C1C}">
                <a14:useLocalDpi xmlns:a14="http://schemas.microsoft.com/office/drawing/2010/main"/>
              </a:ext>
            </a:extLst>
          </a:blip>
          <a:srcRect/>
          <a:stretch>
            <a:fillRect/>
          </a:stretch>
        </p:blipFill>
        <p:spPr/>
      </p:pic>
      <p:sp>
        <p:nvSpPr>
          <p:cNvPr id="29" name="Text Placeholder">
            <a:extLst>
              <a:ext uri="{FF2B5EF4-FFF2-40B4-BE49-F238E27FC236}">
                <a16:creationId xmlns:a16="http://schemas.microsoft.com/office/drawing/2014/main" xmlns="" id="{0490F6D4-84D0-42DF-A807-E56706B577D6}"/>
              </a:ext>
            </a:extLst>
          </p:cNvPr>
          <p:cNvSpPr>
            <a:spLocks noGrp="1"/>
          </p:cNvSpPr>
          <p:nvPr>
            <p:ph type="body" sz="quarter" idx="27"/>
          </p:nvPr>
        </p:nvSpPr>
        <p:spPr/>
        <p:txBody>
          <a:bodyPr/>
          <a:lstStyle/>
          <a:p>
            <a:r>
              <a:rPr lang="en-US" altLang="zh-CN" dirty="0" smtClean="0"/>
              <a:t>Planning</a:t>
            </a:r>
          </a:p>
          <a:p>
            <a:endParaRPr lang="en-US" altLang="zh-CN" dirty="0"/>
          </a:p>
          <a:p>
            <a:endParaRPr lang="zh-CN" altLang="en-US" dirty="0"/>
          </a:p>
        </p:txBody>
      </p:sp>
      <p:pic>
        <p:nvPicPr>
          <p:cNvPr id="10" name="Picture Placeholder 9" descr="People working in office">
            <a:extLst>
              <a:ext uri="{FF2B5EF4-FFF2-40B4-BE49-F238E27FC236}">
                <a16:creationId xmlns:a16="http://schemas.microsoft.com/office/drawing/2014/main" xmlns="" id="{D249D9CF-86A2-4E7B-8B6F-D02EE968C997}"/>
              </a:ext>
            </a:extLst>
          </p:cNvPr>
          <p:cNvPicPr>
            <a:picLocks noGrp="1" noChangeAspect="1"/>
          </p:cNvPicPr>
          <p:nvPr>
            <p:ph type="pic" sz="quarter" idx="58"/>
          </p:nvPr>
        </p:nvPicPr>
        <p:blipFill>
          <a:blip r:embed="rId4" cstate="print">
            <a:extLst>
              <a:ext uri="{28A0092B-C50C-407E-A947-70E740481C1C}">
                <a14:useLocalDpi xmlns:a14="http://schemas.microsoft.com/office/drawing/2010/main"/>
              </a:ext>
            </a:extLst>
          </a:blip>
          <a:srcRect/>
          <a:stretch>
            <a:fillRect/>
          </a:stretch>
        </p:blipFill>
        <p:spPr/>
      </p:pic>
      <p:sp>
        <p:nvSpPr>
          <p:cNvPr id="37" name="Text Placeholder">
            <a:extLst>
              <a:ext uri="{FF2B5EF4-FFF2-40B4-BE49-F238E27FC236}">
                <a16:creationId xmlns:a16="http://schemas.microsoft.com/office/drawing/2014/main" xmlns="" id="{3A30B02E-FBE1-41C5-AF6E-E1013275E84A}"/>
              </a:ext>
            </a:extLst>
          </p:cNvPr>
          <p:cNvSpPr>
            <a:spLocks noGrp="1"/>
          </p:cNvSpPr>
          <p:nvPr>
            <p:ph type="body" sz="quarter" idx="49"/>
          </p:nvPr>
        </p:nvSpPr>
        <p:spPr/>
        <p:txBody>
          <a:bodyPr/>
          <a:lstStyle/>
          <a:p>
            <a:r>
              <a:rPr lang="en-US" altLang="zh-CN" dirty="0" smtClean="0"/>
              <a:t>Requirements</a:t>
            </a:r>
            <a:endParaRPr lang="zh-CN" altLang="en-US" dirty="0"/>
          </a:p>
        </p:txBody>
      </p:sp>
      <p:pic>
        <p:nvPicPr>
          <p:cNvPr id="12" name="Picture Placeholder 11" descr="Layout of website design sketches on white paper">
            <a:extLst>
              <a:ext uri="{FF2B5EF4-FFF2-40B4-BE49-F238E27FC236}">
                <a16:creationId xmlns:a16="http://schemas.microsoft.com/office/drawing/2014/main" xmlns="" id="{3D51D04D-653C-45AE-9DDF-BE96BA267A6B}"/>
              </a:ext>
            </a:extLst>
          </p:cNvPr>
          <p:cNvPicPr>
            <a:picLocks noGrp="1" noChangeAspect="1"/>
          </p:cNvPicPr>
          <p:nvPr>
            <p:ph type="pic" sz="quarter" idx="59"/>
          </p:nvPr>
        </p:nvPicPr>
        <p:blipFill>
          <a:blip r:embed="rId5" cstate="print">
            <a:extLst>
              <a:ext uri="{28A0092B-C50C-407E-A947-70E740481C1C}">
                <a14:useLocalDpi xmlns:a14="http://schemas.microsoft.com/office/drawing/2010/main"/>
              </a:ext>
            </a:extLst>
          </a:blip>
          <a:srcRect/>
          <a:stretch>
            <a:fillRect/>
          </a:stretch>
        </p:blipFill>
        <p:spPr/>
      </p:pic>
      <p:sp>
        <p:nvSpPr>
          <p:cNvPr id="39" name="Text Placeholder">
            <a:extLst>
              <a:ext uri="{FF2B5EF4-FFF2-40B4-BE49-F238E27FC236}">
                <a16:creationId xmlns:a16="http://schemas.microsoft.com/office/drawing/2014/main" xmlns="" id="{1B558BFC-AA9F-4991-A6BB-D56BEC07C16E}"/>
              </a:ext>
            </a:extLst>
          </p:cNvPr>
          <p:cNvSpPr>
            <a:spLocks noGrp="1"/>
          </p:cNvSpPr>
          <p:nvPr>
            <p:ph type="body" sz="quarter" idx="51"/>
          </p:nvPr>
        </p:nvSpPr>
        <p:spPr/>
        <p:txBody>
          <a:bodyPr/>
          <a:lstStyle/>
          <a:p>
            <a:r>
              <a:rPr lang="en-US" altLang="zh-CN" dirty="0" smtClean="0"/>
              <a:t>coding</a:t>
            </a:r>
            <a:endParaRPr lang="zh-CN" altLang="en-US" dirty="0"/>
          </a:p>
        </p:txBody>
      </p:sp>
      <p:pic>
        <p:nvPicPr>
          <p:cNvPr id="14" name="Picture Placeholder 13" descr="Empty office chairs">
            <a:extLst>
              <a:ext uri="{FF2B5EF4-FFF2-40B4-BE49-F238E27FC236}">
                <a16:creationId xmlns:a16="http://schemas.microsoft.com/office/drawing/2014/main" xmlns="" id="{33C59A08-3A06-4556-AC83-C1337E73D0B3}"/>
              </a:ext>
            </a:extLst>
          </p:cNvPr>
          <p:cNvPicPr>
            <a:picLocks noGrp="1" noChangeAspect="1"/>
          </p:cNvPicPr>
          <p:nvPr>
            <p:ph type="pic" sz="quarter" idx="60"/>
          </p:nvPr>
        </p:nvPicPr>
        <p:blipFill>
          <a:blip r:embed="rId6" cstate="print">
            <a:extLst>
              <a:ext uri="{28A0092B-C50C-407E-A947-70E740481C1C}">
                <a14:useLocalDpi xmlns:a14="http://schemas.microsoft.com/office/drawing/2010/main"/>
              </a:ext>
            </a:extLst>
          </a:blip>
          <a:srcRect/>
          <a:stretch>
            <a:fillRect/>
          </a:stretch>
        </p:blipFill>
        <p:spPr>
          <a:xfrm>
            <a:off x="7361472" y="2073439"/>
            <a:ext cx="1621032" cy="1841551"/>
          </a:xfrm>
        </p:spPr>
      </p:pic>
      <p:sp>
        <p:nvSpPr>
          <p:cNvPr id="41" name="Text Placeholder">
            <a:extLst>
              <a:ext uri="{FF2B5EF4-FFF2-40B4-BE49-F238E27FC236}">
                <a16:creationId xmlns:a16="http://schemas.microsoft.com/office/drawing/2014/main" xmlns="" id="{DBA8686B-D3EF-40DF-939C-F875885DD598}"/>
              </a:ext>
            </a:extLst>
          </p:cNvPr>
          <p:cNvSpPr>
            <a:spLocks noGrp="1"/>
          </p:cNvSpPr>
          <p:nvPr>
            <p:ph type="body" sz="quarter" idx="53"/>
          </p:nvPr>
        </p:nvSpPr>
        <p:spPr/>
        <p:txBody>
          <a:bodyPr/>
          <a:lstStyle/>
          <a:p>
            <a:r>
              <a:rPr lang="en-US" altLang="zh-CN" dirty="0" smtClean="0"/>
              <a:t>Testing </a:t>
            </a:r>
            <a:endParaRPr lang="en-US" altLang="zh-CN" dirty="0"/>
          </a:p>
          <a:p>
            <a:endParaRPr lang="zh-CN" altLang="en-US" dirty="0"/>
          </a:p>
        </p:txBody>
      </p:sp>
      <p:pic>
        <p:nvPicPr>
          <p:cNvPr id="90" name="Picture Placeholder 89" descr="People around a table on their laptops">
            <a:extLst>
              <a:ext uri="{FF2B5EF4-FFF2-40B4-BE49-F238E27FC236}">
                <a16:creationId xmlns:a16="http://schemas.microsoft.com/office/drawing/2014/main" xmlns="" id="{241F4F4E-4DAB-34E3-D036-85F0CB76A536}"/>
              </a:ext>
            </a:extLst>
          </p:cNvPr>
          <p:cNvPicPr>
            <a:picLocks noGrp="1" noChangeAspect="1"/>
          </p:cNvPicPr>
          <p:nvPr>
            <p:ph type="pic" sz="quarter" idx="61"/>
          </p:nvPr>
        </p:nvPicPr>
        <p:blipFill rotWithShape="1">
          <a:blip r:embed="rId7" cstate="print">
            <a:extLst>
              <a:ext uri="{28A0092B-C50C-407E-A947-70E740481C1C}">
                <a14:useLocalDpi xmlns:a14="http://schemas.microsoft.com/office/drawing/2010/main"/>
              </a:ext>
            </a:extLst>
          </a:blip>
          <a:srcRect/>
          <a:stretch/>
        </p:blipFill>
        <p:spPr/>
      </p:pic>
      <p:sp>
        <p:nvSpPr>
          <p:cNvPr id="43" name="Text Placeholder">
            <a:extLst>
              <a:ext uri="{FF2B5EF4-FFF2-40B4-BE49-F238E27FC236}">
                <a16:creationId xmlns:a16="http://schemas.microsoft.com/office/drawing/2014/main" xmlns="" id="{759A333C-6D37-427A-BE2A-4C2660134A5A}"/>
              </a:ext>
            </a:extLst>
          </p:cNvPr>
          <p:cNvSpPr>
            <a:spLocks noGrp="1"/>
          </p:cNvSpPr>
          <p:nvPr>
            <p:ph type="body" sz="quarter" idx="55"/>
          </p:nvPr>
        </p:nvSpPr>
        <p:spPr/>
        <p:txBody>
          <a:bodyPr/>
          <a:lstStyle/>
          <a:p>
            <a:r>
              <a:rPr lang="en-US" altLang="zh-CN" dirty="0" smtClean="0"/>
              <a:t>Output</a:t>
            </a:r>
            <a:endParaRPr lang="en-US" altLang="zh-CN" dirty="0"/>
          </a:p>
          <a:p>
            <a:endParaRPr lang="zh-CN" altLang="en-US" dirty="0"/>
          </a:p>
        </p:txBody>
      </p:sp>
      <p:sp>
        <p:nvSpPr>
          <p:cNvPr id="4" name="Footer Placeholder 3">
            <a:extLst>
              <a:ext uri="{FF2B5EF4-FFF2-40B4-BE49-F238E27FC236}">
                <a16:creationId xmlns:a16="http://schemas.microsoft.com/office/drawing/2014/main" xmlns="" id="{695DA9C9-8185-D0AB-3C76-BC1CABABA354}"/>
              </a:ext>
            </a:extLst>
          </p:cNvPr>
          <p:cNvSpPr>
            <a:spLocks noGrp="1"/>
          </p:cNvSpPr>
          <p:nvPr>
            <p:ph type="ftr" sz="quarter" idx="62"/>
          </p:nvPr>
        </p:nvSpPr>
        <p:spPr/>
        <p:txBody>
          <a:bodyPr/>
          <a:lstStyle/>
          <a:p>
            <a:r>
              <a:rPr lang="en-US" dirty="0" smtClean="0"/>
              <a:t>Admission Portal</a:t>
            </a:r>
            <a:endParaRPr lang="en-US" dirty="0"/>
          </a:p>
        </p:txBody>
      </p:sp>
      <p:sp>
        <p:nvSpPr>
          <p:cNvPr id="5" name="Slide Number Placeholder 4">
            <a:extLst>
              <a:ext uri="{FF2B5EF4-FFF2-40B4-BE49-F238E27FC236}">
                <a16:creationId xmlns:a16="http://schemas.microsoft.com/office/drawing/2014/main" xmlns="" id="{558D9DED-0D81-19D6-DF40-E6B4B5BFEF9E}"/>
              </a:ext>
            </a:extLst>
          </p:cNvPr>
          <p:cNvSpPr>
            <a:spLocks noGrp="1"/>
          </p:cNvSpPr>
          <p:nvPr>
            <p:ph type="sldNum" sz="quarter" idx="63"/>
          </p:nvPr>
        </p:nvSpPr>
        <p:spPr/>
        <p:txBody>
          <a:bodyPr/>
          <a:lstStyle/>
          <a:p>
            <a:fld id="{47FEACEE-25B4-4A2D-B147-27296E36371D}" type="slidenum">
              <a:rPr lang="en-US" altLang="zh-CN" smtClean="0"/>
              <a:pPr/>
              <a:t>6</a:t>
            </a:fld>
            <a:endParaRPr lang="en-US" altLang="zh-CN" dirty="0"/>
          </a:p>
        </p:txBody>
      </p:sp>
    </p:spTree>
    <p:extLst>
      <p:ext uri="{BB962C8B-B14F-4D97-AF65-F5344CB8AC3E}">
        <p14:creationId xmlns:p14="http://schemas.microsoft.com/office/powerpoint/2010/main" val="251714033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613663CA-BA5A-41E7-1FBE-D38846DFEF75}"/>
              </a:ext>
            </a:extLst>
          </p:cNvPr>
          <p:cNvSpPr>
            <a:spLocks noGrp="1"/>
          </p:cNvSpPr>
          <p:nvPr>
            <p:ph type="title"/>
          </p:nvPr>
        </p:nvSpPr>
        <p:spPr>
          <a:xfrm>
            <a:off x="5721971" y="1126155"/>
            <a:ext cx="5930790" cy="4118978"/>
          </a:xfrm>
        </p:spPr>
        <p:txBody>
          <a:bodyPr/>
          <a:lstStyle/>
          <a:p>
            <a:r>
              <a:rPr lang="en-US" sz="2400" dirty="0"/>
              <a:t>AI techniques, particularly machine learning and deep learning, are employed to build predictive models that forecast weather conditions with improved accuracy. These models learn from historical weather data, including atmospheric pressure, temperature, humidity, and wind patterns, to predict future weather patterns</a:t>
            </a:r>
          </a:p>
        </p:txBody>
      </p:sp>
      <p:sp>
        <p:nvSpPr>
          <p:cNvPr id="4" name="Footer Placeholder 3">
            <a:extLst>
              <a:ext uri="{FF2B5EF4-FFF2-40B4-BE49-F238E27FC236}">
                <a16:creationId xmlns:a16="http://schemas.microsoft.com/office/drawing/2014/main" xmlns="" id="{8A610345-FF40-D90A-5C88-A462A10E487B}"/>
              </a:ext>
            </a:extLst>
          </p:cNvPr>
          <p:cNvSpPr>
            <a:spLocks noGrp="1"/>
          </p:cNvSpPr>
          <p:nvPr>
            <p:ph type="ftr" sz="quarter" idx="30"/>
          </p:nvPr>
        </p:nvSpPr>
        <p:spPr/>
        <p:txBody>
          <a:bodyPr/>
          <a:lstStyle/>
          <a:p>
            <a:r>
              <a:rPr lang="en-US" noProof="0" dirty="0" smtClean="0"/>
              <a:t>Admission Portal </a:t>
            </a:r>
            <a:endParaRPr lang="en-US" noProof="0" dirty="0"/>
          </a:p>
        </p:txBody>
      </p:sp>
      <p:sp>
        <p:nvSpPr>
          <p:cNvPr id="5" name="Slide Number Placeholder 4">
            <a:extLst>
              <a:ext uri="{FF2B5EF4-FFF2-40B4-BE49-F238E27FC236}">
                <a16:creationId xmlns:a16="http://schemas.microsoft.com/office/drawing/2014/main" xmlns=""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7</a:t>
            </a:fld>
            <a:endParaRPr lang="en-US" altLang="zh-CN" noProof="0" dirty="0"/>
          </a:p>
        </p:txBody>
      </p:sp>
      <p:sp>
        <p:nvSpPr>
          <p:cNvPr id="7" name="TextBox 6"/>
          <p:cNvSpPr txBox="1"/>
          <p:nvPr/>
        </p:nvSpPr>
        <p:spPr>
          <a:xfrm>
            <a:off x="4504623" y="664490"/>
            <a:ext cx="5496025" cy="923330"/>
          </a:xfrm>
          <a:prstGeom prst="rect">
            <a:avLst/>
          </a:prstGeom>
        </p:spPr>
        <p:txBody>
          <a:bodyPr wrap="square" rtlCol="0">
            <a:spAutoFit/>
          </a:bodyPr>
          <a:lstStyle/>
          <a:p>
            <a:pPr marL="0" indent="0" algn="ctr">
              <a:lnSpc>
                <a:spcPct val="100000"/>
              </a:lnSpc>
              <a:spcBef>
                <a:spcPts val="0"/>
              </a:spcBef>
              <a:buFontTx/>
              <a:buNone/>
            </a:pPr>
            <a:r>
              <a:rPr lang="en-US" sz="5400" b="1" dirty="0" smtClean="0">
                <a:solidFill>
                  <a:schemeClr val="accent5">
                    <a:lumMod val="60000"/>
                    <a:lumOff val="40000"/>
                  </a:schemeClr>
                </a:solidFill>
                <a:latin typeface="Posterama" panose="020B0504020200020000" pitchFamily="34" charset="0"/>
                <a:ea typeface="微软雅黑"/>
                <a:cs typeface="Posterama" panose="020B0504020200020000" pitchFamily="34" charset="0"/>
              </a:rPr>
              <a:t>Use Case</a:t>
            </a:r>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4950822" y="1496380"/>
            <a:ext cx="6220590" cy="4747666"/>
          </a:xfrm>
          <a:prstGeom prst="rect">
            <a:avLst/>
          </a:prstGeom>
          <a:ln>
            <a:solidFill>
              <a:schemeClr val="accent1">
                <a:lumMod val="60000"/>
                <a:lumOff val="40000"/>
              </a:schemeClr>
            </a:solidFill>
          </a:ln>
        </p:spPr>
      </p:pic>
    </p:spTree>
    <p:extLst>
      <p:ext uri="{BB962C8B-B14F-4D97-AF65-F5344CB8AC3E}">
        <p14:creationId xmlns:p14="http://schemas.microsoft.com/office/powerpoint/2010/main" val="329559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xagon 7"/>
          <p:cNvSpPr/>
          <p:nvPr/>
        </p:nvSpPr>
        <p:spPr>
          <a:xfrm rot="5400000">
            <a:off x="7068449" y="550805"/>
            <a:ext cx="4863857" cy="4192979"/>
          </a:xfrm>
          <a:prstGeom prst="hexagon">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293140" y="442250"/>
            <a:ext cx="9823998" cy="1325563"/>
          </a:xfrm>
        </p:spPr>
        <p:txBody>
          <a:bodyPr/>
          <a:lstStyle/>
          <a:p>
            <a:r>
              <a:rPr lang="en-US" altLang="zh-CN" dirty="0" smtClean="0"/>
              <a:t>Activity Diagram </a:t>
            </a:r>
            <a:endParaRPr lang="en-US"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517427" y="2580931"/>
            <a:ext cx="4959822" cy="2007158"/>
          </a:xfrm>
        </p:spPr>
        <p:txBody>
          <a:bodyPr/>
          <a:lstStyle/>
          <a:p>
            <a:pPr marL="285750" indent="-285750">
              <a:buFont typeface="Wingdings" panose="05000000000000000000" pitchFamily="2" charset="2"/>
              <a:buChar char="Ø"/>
            </a:pPr>
            <a:r>
              <a:rPr lang="en-US" dirty="0"/>
              <a:t>Real-Time Data </a:t>
            </a:r>
            <a:r>
              <a:rPr lang="en-US" dirty="0" smtClean="0"/>
              <a:t>Processing.</a:t>
            </a:r>
          </a:p>
          <a:p>
            <a:pPr marL="285750" indent="-285750">
              <a:buFont typeface="Wingdings" panose="05000000000000000000" pitchFamily="2" charset="2"/>
              <a:buChar char="Ø"/>
            </a:pPr>
            <a:r>
              <a:rPr lang="en-US" dirty="0" smtClean="0"/>
              <a:t>API </a:t>
            </a:r>
            <a:r>
              <a:rPr lang="en-US" dirty="0"/>
              <a:t>algorithms process real-time data from weather sensors, radars, and </a:t>
            </a:r>
            <a:r>
              <a:rPr lang="en-US" dirty="0" smtClean="0"/>
              <a:t>stations.</a:t>
            </a:r>
          </a:p>
          <a:p>
            <a:pPr marL="285750" indent="-285750">
              <a:buFont typeface="Wingdings" panose="05000000000000000000" pitchFamily="2" charset="2"/>
              <a:buChar char="Ø"/>
            </a:pPr>
            <a:r>
              <a:rPr lang="en-US" dirty="0" smtClean="0"/>
              <a:t>Providing </a:t>
            </a:r>
            <a:r>
              <a:rPr lang="en-US" dirty="0"/>
              <a:t>up-to-date information on weather conditions. </a:t>
            </a:r>
            <a:endParaRPr lang="en-US" dirty="0" smtClean="0"/>
          </a:p>
          <a:p>
            <a:pPr marL="285750" indent="-285750">
              <a:buFont typeface="Wingdings" panose="05000000000000000000" pitchFamily="2" charset="2"/>
              <a:buChar char="Ø"/>
            </a:pPr>
            <a:r>
              <a:rPr lang="en-US" dirty="0" smtClean="0"/>
              <a:t>By </a:t>
            </a:r>
            <a:r>
              <a:rPr lang="en-US" dirty="0"/>
              <a:t>analyzing this data in </a:t>
            </a:r>
            <a:r>
              <a:rPr lang="en-US" dirty="0" smtClean="0"/>
              <a:t>real-time.</a:t>
            </a:r>
          </a:p>
          <a:p>
            <a:pPr marL="285750" indent="-285750">
              <a:buFont typeface="Wingdings" panose="05000000000000000000" pitchFamily="2" charset="2"/>
              <a:buChar char="Ø"/>
            </a:pPr>
            <a:r>
              <a:rPr lang="en-US" dirty="0" smtClean="0"/>
              <a:t>API </a:t>
            </a:r>
            <a:r>
              <a:rPr lang="en-US" dirty="0"/>
              <a:t>helps generate timely forecasts, allowing for rapid response and decision-making in various industries.</a:t>
            </a:r>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a:ext>
            </a:extLst>
          </a:blip>
          <a:srcRect t="2555" b="2555"/>
          <a:stretch>
            <a:fillRect/>
          </a:stretch>
        </p:blipFill>
        <p:spPr>
          <a:xfrm>
            <a:off x="6397268" y="3296584"/>
            <a:ext cx="1570617" cy="1731703"/>
          </a:xfrm>
          <a:prstGeom prst="rect">
            <a:avLst/>
          </a:prstGeom>
          <a:ln>
            <a:noFill/>
          </a:ln>
          <a:effectLst>
            <a:softEdge rad="112500"/>
          </a:effectLst>
          <a:scene3d>
            <a:camera prst="orthographicFront">
              <a:rot lat="0" lon="0" rev="0"/>
            </a:camera>
            <a:lightRig rig="contrasting" dir="t">
              <a:rot lat="0" lon="0" rev="7800000"/>
            </a:lightRig>
          </a:scene3d>
          <a:sp3d>
            <a:bevelT w="139700" h="139700"/>
          </a:sp3d>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8</a:t>
            </a:fld>
            <a:endParaRPr lang="en-US" altLang="zh-CN" dirty="0"/>
          </a:p>
        </p:txBody>
      </p:sp>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306818" y="1345474"/>
            <a:ext cx="6825502" cy="4794069"/>
          </a:xfrm>
          <a:prstGeom prst="rect">
            <a:avLst/>
          </a:prstGeom>
          <a:ln>
            <a:solidFill>
              <a:schemeClr val="tx1"/>
            </a:solidFill>
          </a:ln>
        </p:spPr>
      </p:pic>
      <p:pic>
        <p:nvPicPr>
          <p:cNvPr id="5122" name="Picture 2" descr="Admission Icon #315396 - Free Icons Library"/>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67885" y="1607882"/>
            <a:ext cx="3598272" cy="2470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551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xagon 7"/>
          <p:cNvSpPr/>
          <p:nvPr/>
        </p:nvSpPr>
        <p:spPr>
          <a:xfrm rot="5400000">
            <a:off x="7068449" y="550805"/>
            <a:ext cx="4863857" cy="4192979"/>
          </a:xfrm>
          <a:prstGeom prst="hexagon">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293140" y="442250"/>
            <a:ext cx="9823998" cy="1325563"/>
          </a:xfrm>
        </p:spPr>
        <p:txBody>
          <a:bodyPr/>
          <a:lstStyle/>
          <a:p>
            <a:r>
              <a:rPr lang="en-US" altLang="zh-CN" dirty="0" smtClean="0"/>
              <a:t> DFD(data flow diagram)</a:t>
            </a:r>
            <a:endParaRPr lang="en-US"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517426" y="1468582"/>
            <a:ext cx="5315337" cy="3976254"/>
          </a:xfrm>
        </p:spPr>
        <p:txBody>
          <a:bodyPr/>
          <a:lstStyle/>
          <a:p>
            <a:pPr marL="285750" indent="-285750"/>
            <a:r>
              <a:rPr lang="en-US" dirty="0" smtClean="0"/>
              <a:t> </a:t>
            </a:r>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a:ext>
            </a:extLst>
          </a:blip>
          <a:srcRect t="2555" b="2555"/>
          <a:stretch>
            <a:fillRect/>
          </a:stretch>
        </p:blipFill>
        <p:spPr>
          <a:xfrm>
            <a:off x="6397268" y="3296584"/>
            <a:ext cx="1570617" cy="1731703"/>
          </a:xfrm>
          <a:prstGeom prst="rect">
            <a:avLst/>
          </a:prstGeom>
          <a:ln>
            <a:noFill/>
          </a:ln>
          <a:effectLst>
            <a:softEdge rad="112500"/>
          </a:effectLst>
          <a:scene3d>
            <a:camera prst="orthographicFront">
              <a:rot lat="0" lon="0" rev="0"/>
            </a:camera>
            <a:lightRig rig="contrasting" dir="t">
              <a:rot lat="0" lon="0" rev="7800000"/>
            </a:lightRig>
          </a:scene3d>
          <a:sp3d>
            <a:bevelT w="139700" h="139700"/>
          </a:sp3d>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9</a:t>
            </a:fld>
            <a:endParaRPr lang="en-US" altLang="zh-CN" dirty="0"/>
          </a:p>
        </p:txBody>
      </p:sp>
      <p:pic>
        <p:nvPicPr>
          <p:cNvPr id="5122" name="Picture 2" descr="Admission Icon #315396 - Free Icons Libr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885" y="1594819"/>
            <a:ext cx="3598272" cy="24708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p:nvPr/>
        </p:nvPicPr>
        <p:blipFill>
          <a:blip r:embed="rId5">
            <a:extLst>
              <a:ext uri="{28A0092B-C50C-407E-A947-70E740481C1C}">
                <a14:useLocalDpi xmlns:a14="http://schemas.microsoft.com/office/drawing/2010/main" val="0"/>
              </a:ext>
            </a:extLst>
          </a:blip>
          <a:stretch>
            <a:fillRect/>
          </a:stretch>
        </p:blipFill>
        <p:spPr>
          <a:xfrm>
            <a:off x="481026" y="1896451"/>
            <a:ext cx="7108494" cy="4060212"/>
          </a:xfrm>
          <a:prstGeom prst="rect">
            <a:avLst/>
          </a:prstGeom>
          <a:ln>
            <a:solidFill>
              <a:schemeClr val="tx1"/>
            </a:solidFill>
          </a:ln>
        </p:spPr>
      </p:pic>
    </p:spTree>
    <p:extLst>
      <p:ext uri="{BB962C8B-B14F-4D97-AF65-F5344CB8AC3E}">
        <p14:creationId xmlns:p14="http://schemas.microsoft.com/office/powerpoint/2010/main" val="3411551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xagon 7"/>
          <p:cNvSpPr/>
          <p:nvPr/>
        </p:nvSpPr>
        <p:spPr>
          <a:xfrm rot="5400000">
            <a:off x="7068449" y="550805"/>
            <a:ext cx="4863857" cy="4192979"/>
          </a:xfrm>
          <a:prstGeom prst="hexagon">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293140" y="442250"/>
            <a:ext cx="9823998" cy="1325563"/>
          </a:xfrm>
        </p:spPr>
        <p:txBody>
          <a:bodyPr/>
          <a:lstStyle/>
          <a:p>
            <a:r>
              <a:rPr lang="en-US" altLang="zh-CN" dirty="0" smtClean="0"/>
              <a:t> DFD(data flow diagram)</a:t>
            </a:r>
            <a:endParaRPr lang="en-US"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517426" y="1468582"/>
            <a:ext cx="5315337" cy="3976254"/>
          </a:xfrm>
        </p:spPr>
        <p:txBody>
          <a:bodyPr/>
          <a:lstStyle/>
          <a:p>
            <a:pPr marL="285750" indent="-285750"/>
            <a:r>
              <a:rPr lang="en-US" dirty="0" smtClean="0"/>
              <a:t> </a:t>
            </a:r>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a:ext>
            </a:extLst>
          </a:blip>
          <a:srcRect t="2555" b="2555"/>
          <a:stretch>
            <a:fillRect/>
          </a:stretch>
        </p:blipFill>
        <p:spPr>
          <a:xfrm>
            <a:off x="6397268" y="3296584"/>
            <a:ext cx="1570617" cy="1731703"/>
          </a:xfrm>
          <a:prstGeom prst="rect">
            <a:avLst/>
          </a:prstGeom>
          <a:ln>
            <a:noFill/>
          </a:ln>
          <a:effectLst>
            <a:softEdge rad="112500"/>
          </a:effectLst>
          <a:scene3d>
            <a:camera prst="orthographicFront">
              <a:rot lat="0" lon="0" rev="0"/>
            </a:camera>
            <a:lightRig rig="contrasting" dir="t">
              <a:rot lat="0" lon="0" rev="7800000"/>
            </a:lightRig>
          </a:scene3d>
          <a:sp3d>
            <a:bevelT w="139700" h="139700"/>
          </a:sp3d>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10</a:t>
            </a:fld>
            <a:endParaRPr lang="en-US" altLang="zh-CN" dirty="0"/>
          </a:p>
        </p:txBody>
      </p:sp>
      <p:pic>
        <p:nvPicPr>
          <p:cNvPr id="5122" name="Picture 2" descr="Admission Icon #315396 - Free Icons Libr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885" y="1594819"/>
            <a:ext cx="3598272" cy="24708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p:cNvPicPr/>
          <p:nvPr/>
        </p:nvPicPr>
        <p:blipFill>
          <a:blip r:embed="rId5">
            <a:extLst>
              <a:ext uri="{28A0092B-C50C-407E-A947-70E740481C1C}">
                <a14:useLocalDpi xmlns:a14="http://schemas.microsoft.com/office/drawing/2010/main" val="0"/>
              </a:ext>
            </a:extLst>
          </a:blip>
          <a:stretch>
            <a:fillRect/>
          </a:stretch>
        </p:blipFill>
        <p:spPr>
          <a:xfrm>
            <a:off x="381000" y="1586114"/>
            <a:ext cx="7443652" cy="4501178"/>
          </a:xfrm>
          <a:prstGeom prst="rect">
            <a:avLst/>
          </a:prstGeom>
          <a:ln>
            <a:solidFill>
              <a:schemeClr val="tx1"/>
            </a:solidFill>
          </a:ln>
        </p:spPr>
      </p:pic>
    </p:spTree>
    <p:extLst>
      <p:ext uri="{BB962C8B-B14F-4D97-AF65-F5344CB8AC3E}">
        <p14:creationId xmlns:p14="http://schemas.microsoft.com/office/powerpoint/2010/main" val="3411551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Hexagon 7"/>
          <p:cNvSpPr/>
          <p:nvPr/>
        </p:nvSpPr>
        <p:spPr>
          <a:xfrm rot="5400000">
            <a:off x="7068449" y="550805"/>
            <a:ext cx="4863857" cy="4192979"/>
          </a:xfrm>
          <a:prstGeom prst="hexagon">
            <a:avLst/>
          </a:prstGeom>
          <a:solidFill>
            <a:schemeClr val="bg1"/>
          </a:solidFill>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293140" y="442250"/>
            <a:ext cx="9823998" cy="1325563"/>
          </a:xfrm>
        </p:spPr>
        <p:txBody>
          <a:bodyPr/>
          <a:lstStyle/>
          <a:p>
            <a:r>
              <a:rPr lang="en-US" altLang="zh-CN" dirty="0" smtClean="0"/>
              <a:t> DFD(data flow diagram)</a:t>
            </a:r>
            <a:endParaRPr lang="en-US"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517426" y="1468582"/>
            <a:ext cx="5315337" cy="3976254"/>
          </a:xfrm>
        </p:spPr>
        <p:txBody>
          <a:bodyPr/>
          <a:lstStyle/>
          <a:p>
            <a:pPr marL="285750" indent="-285750"/>
            <a:r>
              <a:rPr lang="en-US" dirty="0" smtClean="0"/>
              <a:t> </a:t>
            </a:r>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a:ext>
            </a:extLst>
          </a:blip>
          <a:srcRect t="2555" b="2555"/>
          <a:stretch>
            <a:fillRect/>
          </a:stretch>
        </p:blipFill>
        <p:spPr>
          <a:xfrm>
            <a:off x="6397268" y="3296584"/>
            <a:ext cx="1570617" cy="1731703"/>
          </a:xfrm>
          <a:prstGeom prst="rect">
            <a:avLst/>
          </a:prstGeom>
          <a:ln>
            <a:noFill/>
          </a:ln>
          <a:effectLst>
            <a:softEdge rad="112500"/>
          </a:effectLst>
          <a:scene3d>
            <a:camera prst="orthographicFront">
              <a:rot lat="0" lon="0" rev="0"/>
            </a:camera>
            <a:lightRig rig="contrasting" dir="t">
              <a:rot lat="0" lon="0" rev="7800000"/>
            </a:lightRig>
          </a:scene3d>
          <a:sp3d>
            <a:bevelT w="139700" h="139700"/>
          </a:sp3d>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11</a:t>
            </a:fld>
            <a:endParaRPr lang="en-US" altLang="zh-CN" dirty="0"/>
          </a:p>
        </p:txBody>
      </p:sp>
      <p:pic>
        <p:nvPicPr>
          <p:cNvPr id="5122" name="Picture 2" descr="Admission Icon #315396 - Free Icons Library"/>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885" y="1607882"/>
            <a:ext cx="3598272" cy="24708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p:nvPr/>
        </p:nvPicPr>
        <p:blipFill>
          <a:blip r:embed="rId5">
            <a:extLst>
              <a:ext uri="{28A0092B-C50C-407E-A947-70E740481C1C}">
                <a14:useLocalDpi xmlns:a14="http://schemas.microsoft.com/office/drawing/2010/main" val="0"/>
              </a:ext>
            </a:extLst>
          </a:blip>
          <a:stretch>
            <a:fillRect/>
          </a:stretch>
        </p:blipFill>
        <p:spPr>
          <a:xfrm>
            <a:off x="284080" y="1474341"/>
            <a:ext cx="6299600" cy="4599888"/>
          </a:xfrm>
          <a:prstGeom prst="rect">
            <a:avLst/>
          </a:prstGeom>
          <a:ln>
            <a:solidFill>
              <a:schemeClr val="tx1"/>
            </a:solidFill>
          </a:ln>
        </p:spPr>
      </p:pic>
    </p:spTree>
    <p:extLst>
      <p:ext uri="{BB962C8B-B14F-4D97-AF65-F5344CB8AC3E}">
        <p14:creationId xmlns:p14="http://schemas.microsoft.com/office/powerpoint/2010/main" val="3411551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129669" y="186328"/>
            <a:ext cx="9823998" cy="1325563"/>
          </a:xfrm>
        </p:spPr>
        <p:txBody>
          <a:bodyPr/>
          <a:lstStyle/>
          <a:p>
            <a:r>
              <a:rPr lang="en-US" sz="4000" dirty="0" smtClean="0"/>
              <a:t>Test case Scenario</a:t>
            </a:r>
            <a:r>
              <a:rPr lang="en-US" dirty="0" smtClean="0"/>
              <a:t/>
            </a:r>
            <a:br>
              <a:rPr lang="en-US" dirty="0" smtClean="0"/>
            </a:br>
            <a:r>
              <a:rPr lang="en-US" dirty="0" smtClean="0"/>
              <a:t> </a:t>
            </a:r>
            <a:r>
              <a:rPr lang="en-US" sz="2000" dirty="0" smtClean="0"/>
              <a:t>Test case:1 Register Student:</a:t>
            </a:r>
            <a:endParaRPr lang="en-US" sz="2000"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464087" y="1210960"/>
            <a:ext cx="4959822" cy="4686920"/>
          </a:xfrm>
        </p:spPr>
        <p:txBody>
          <a:bodyPr/>
          <a:lstStyle/>
          <a:p>
            <a:r>
              <a:rPr lang="en-US" b="1" dirty="0" smtClean="0"/>
              <a:t> Field                        </a:t>
            </a:r>
            <a:r>
              <a:rPr lang="en-US" b="1" dirty="0"/>
              <a:t>Details</a:t>
            </a:r>
            <a:endParaRPr lang="en-US" dirty="0" smtClean="0"/>
          </a:p>
          <a:p>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 </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12</a:t>
            </a:fld>
            <a:endParaRPr lang="en-US" altLang="zh-CN" dirty="0"/>
          </a:p>
        </p:txBody>
      </p:sp>
      <p:graphicFrame>
        <p:nvGraphicFramePr>
          <p:cNvPr id="7" name="Table 6"/>
          <p:cNvGraphicFramePr>
            <a:graphicFrameLocks noGrp="1"/>
          </p:cNvGraphicFramePr>
          <p:nvPr>
            <p:extLst>
              <p:ext uri="{D42A27DB-BD31-4B8C-83A1-F6EECF244321}">
                <p14:modId xmlns:p14="http://schemas.microsoft.com/office/powerpoint/2010/main" val="308590675"/>
              </p:ext>
            </p:extLst>
          </p:nvPr>
        </p:nvGraphicFramePr>
        <p:xfrm>
          <a:off x="243840" y="1758485"/>
          <a:ext cx="1584960" cy="4338009"/>
        </p:xfrm>
        <a:graphic>
          <a:graphicData uri="http://schemas.openxmlformats.org/drawingml/2006/table">
            <a:tbl>
              <a:tblPr firstRow="1" firstCol="1" bandRow="1">
                <a:tableStyleId>{5FD0F851-EC5A-4D38-B0AD-8093EC10F338}</a:tableStyleId>
              </a:tblPr>
              <a:tblGrid>
                <a:gridCol w="1584960"/>
              </a:tblGrid>
              <a:tr h="482001">
                <a:tc>
                  <a:txBody>
                    <a:bodyPr/>
                    <a:lstStyle/>
                    <a:p>
                      <a:pPr>
                        <a:lnSpc>
                          <a:spcPct val="107000"/>
                        </a:lnSpc>
                        <a:spcAft>
                          <a:spcPts val="800"/>
                        </a:spcAft>
                      </a:pPr>
                      <a:r>
                        <a:rPr lang="en-US" sz="1100" dirty="0">
                          <a:effectLst/>
                        </a:rPr>
                        <a:t>Test Case ID</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Scenario</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Steps</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Prerequisite</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Data</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Expected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Actual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Environment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Comments</a:t>
                      </a:r>
                      <a:endParaRPr lang="en-US" sz="1100" dirty="0">
                        <a:effectLst/>
                        <a:latin typeface="Calibri"/>
                        <a:ea typeface="Calibri"/>
                        <a:cs typeface="Times New Roman"/>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0310363"/>
              </p:ext>
            </p:extLst>
          </p:nvPr>
        </p:nvGraphicFramePr>
        <p:xfrm>
          <a:off x="1889760" y="1752600"/>
          <a:ext cx="4599265" cy="4343400"/>
        </p:xfrm>
        <a:graphic>
          <a:graphicData uri="http://schemas.openxmlformats.org/drawingml/2006/table">
            <a:tbl>
              <a:tblPr firstRow="1" firstCol="1" bandRow="1">
                <a:tableStyleId>{5FD0F851-EC5A-4D38-B0AD-8093EC10F338}</a:tableStyleId>
              </a:tblPr>
              <a:tblGrid>
                <a:gridCol w="4599265"/>
              </a:tblGrid>
              <a:tr h="462915">
                <a:tc>
                  <a:txBody>
                    <a:bodyPr/>
                    <a:lstStyle/>
                    <a:p>
                      <a:pPr>
                        <a:lnSpc>
                          <a:spcPct val="107000"/>
                        </a:lnSpc>
                        <a:spcAft>
                          <a:spcPts val="800"/>
                        </a:spcAft>
                      </a:pPr>
                      <a:r>
                        <a:rPr lang="en-US" sz="1100" dirty="0">
                          <a:effectLst/>
                        </a:rPr>
                        <a:t>TC_001</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dirty="0">
                          <a:effectLst/>
                        </a:rPr>
                        <a:t>Verify if a student can </a:t>
                      </a:r>
                      <a:r>
                        <a:rPr lang="en-US" sz="1100" dirty="0" smtClean="0">
                          <a:effectLst/>
                        </a:rPr>
                        <a:t>successfully register </a:t>
                      </a:r>
                      <a:r>
                        <a:rPr lang="en-US" sz="1100" dirty="0">
                          <a:effectLst/>
                        </a:rPr>
                        <a:t>on the portal.</a:t>
                      </a:r>
                      <a:endParaRPr lang="en-US" sz="1100" dirty="0">
                        <a:effectLst/>
                        <a:latin typeface="Calibri"/>
                        <a:ea typeface="Calibri"/>
                        <a:cs typeface="Times New Roman"/>
                      </a:endParaRPr>
                    </a:p>
                  </a:txBody>
                  <a:tcPr marL="9525" marR="9525" marT="9525" marB="9525" anchor="ctr"/>
                </a:tc>
              </a:tr>
              <a:tr h="837083">
                <a:tc>
                  <a:txBody>
                    <a:bodyPr/>
                    <a:lstStyle/>
                    <a:p>
                      <a:pPr>
                        <a:lnSpc>
                          <a:spcPct val="107000"/>
                        </a:lnSpc>
                        <a:spcAft>
                          <a:spcPts val="800"/>
                        </a:spcAft>
                      </a:pPr>
                      <a:r>
                        <a:rPr lang="en-US" sz="1100">
                          <a:effectLst/>
                        </a:rPr>
                        <a:t>1. Open the Admission Portal.2. Click on "Register".3. Enter required details (name, email, password, etc.).4. Submit the form.</a:t>
                      </a:r>
                      <a:endParaRPr lang="en-US" sz="1100">
                        <a:effectLst/>
                        <a:latin typeface="Calibri"/>
                        <a:ea typeface="Calibri"/>
                        <a:cs typeface="Times New Roman"/>
                      </a:endParaRPr>
                    </a:p>
                  </a:txBody>
                  <a:tcPr marL="9525" marR="9525" marT="9525" marB="9525" anchor="ctr"/>
                </a:tc>
              </a:tr>
              <a:tr h="405532">
                <a:tc>
                  <a:txBody>
                    <a:bodyPr/>
                    <a:lstStyle/>
                    <a:p>
                      <a:pPr>
                        <a:lnSpc>
                          <a:spcPct val="107000"/>
                        </a:lnSpc>
                        <a:spcAft>
                          <a:spcPts val="800"/>
                        </a:spcAft>
                      </a:pPr>
                      <a:r>
                        <a:rPr lang="en-US" sz="1100" dirty="0">
                          <a:effectLst/>
                        </a:rPr>
                        <a:t>Student must not already be registered.</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a:effectLst/>
                        </a:rPr>
                        <a:t>Name: John Doe, Email: </a:t>
                      </a:r>
                      <a:r>
                        <a:rPr lang="en-US" sz="1100" u="sng">
                          <a:effectLst/>
                          <a:hlinkClick r:id="rId4"/>
                        </a:rPr>
                        <a:t>john@example.com</a:t>
                      </a:r>
                      <a:r>
                        <a:rPr lang="en-US" sz="1100">
                          <a:effectLst/>
                        </a:rPr>
                        <a:t>, Password: Password123.</a:t>
                      </a:r>
                      <a:endParaRPr lang="en-US" sz="110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a:effectLst/>
                        </a:rPr>
                        <a:t>Student registration is successful, and a confirmation message is displayed.</a:t>
                      </a:r>
                      <a:endParaRPr lang="en-US" sz="110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a:effectLst/>
                        </a:rPr>
                        <a:t>[To be filled after execution].</a:t>
                      </a:r>
                      <a:endParaRPr lang="en-US" sz="110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dirty="0">
                          <a:effectLst/>
                        </a:rPr>
                        <a:t>Web Browser: Chrome 112, OS: Windows 10.</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dirty="0">
                          <a:effectLst/>
                        </a:rPr>
                        <a:t>Ensure email validation is applied.</a:t>
                      </a:r>
                      <a:endParaRPr lang="en-US" sz="1100" dirty="0">
                        <a:effectLst/>
                        <a:latin typeface="Calibri"/>
                        <a:ea typeface="Calibri"/>
                        <a:cs typeface="Times New Roman"/>
                      </a:endParaRPr>
                    </a:p>
                  </a:txBody>
                  <a:tcPr marL="9525" marR="9525" marT="9525" marB="9525" anchor="ctr"/>
                </a:tc>
              </a:tr>
            </a:tbl>
          </a:graphicData>
        </a:graphic>
      </p:graphicFrame>
      <p:pic>
        <p:nvPicPr>
          <p:cNvPr id="2051" name="Picture 3" descr="60235 - Admission Icon Free Png - Free ..."/>
          <p:cNvPicPr>
            <a:picLocks noGrp="1" noChangeAspect="1" noChangeArrowheads="1"/>
          </p:cNvPicPr>
          <p:nvPr>
            <p:ph type="pic" sz="quarter" idx="48"/>
          </p:nvPr>
        </p:nvPicPr>
        <p:blipFill>
          <a:blip r:embed="rId5">
            <a:extLst>
              <a:ext uri="{BEBA8EAE-BF5A-486C-A8C5-ECC9F3942E4B}">
                <a14:imgProps xmlns:a14="http://schemas.microsoft.com/office/drawing/2010/main">
                  <a14:imgLayer r:embed="rId6">
                    <a14:imgEffect>
                      <a14:backgroundRemoval t="10000" b="90000" l="25346" r="74654"/>
                    </a14:imgEffect>
                  </a14:imgLayer>
                </a14:imgProps>
              </a:ext>
              <a:ext uri="{28A0092B-C50C-407E-A947-70E740481C1C}">
                <a14:useLocalDpi xmlns:a14="http://schemas.microsoft.com/office/drawing/2010/main" val="0"/>
              </a:ext>
            </a:extLst>
          </a:blip>
          <a:srcRect l="19182" r="19182"/>
          <a:stretch>
            <a:fillRect/>
          </a:stretch>
        </p:blipFill>
        <p:spPr bwMode="auto">
          <a:xfrm>
            <a:off x="8653111" y="885573"/>
            <a:ext cx="2838662" cy="316085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3338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129669" y="186328"/>
            <a:ext cx="9823998" cy="1325563"/>
          </a:xfrm>
        </p:spPr>
        <p:txBody>
          <a:bodyPr/>
          <a:lstStyle/>
          <a:p>
            <a:r>
              <a:rPr lang="en-US" sz="4000" dirty="0" smtClean="0"/>
              <a:t>Test case :2</a:t>
            </a:r>
            <a:r>
              <a:rPr lang="en-US" dirty="0" smtClean="0"/>
              <a:t/>
            </a:r>
            <a:br>
              <a:rPr lang="en-US" dirty="0" smtClean="0"/>
            </a:br>
            <a:r>
              <a:rPr lang="en-US" sz="2000" dirty="0" smtClean="0"/>
              <a:t>Veiw Grades:</a:t>
            </a:r>
            <a:endParaRPr lang="en-US" sz="2000"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464087" y="1210960"/>
            <a:ext cx="4959822" cy="4686920"/>
          </a:xfrm>
        </p:spPr>
        <p:txBody>
          <a:bodyPr/>
          <a:lstStyle/>
          <a:p>
            <a:r>
              <a:rPr lang="en-US" b="1" dirty="0" smtClean="0"/>
              <a:t> Field                        </a:t>
            </a:r>
            <a:r>
              <a:rPr lang="en-US" b="1" dirty="0"/>
              <a:t>Details</a:t>
            </a:r>
            <a:endParaRPr lang="en-US" dirty="0" smtClean="0"/>
          </a:p>
          <a:p>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 </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13</a:t>
            </a:fld>
            <a:endParaRPr lang="en-US" altLang="zh-CN" dirty="0"/>
          </a:p>
        </p:txBody>
      </p:sp>
      <p:graphicFrame>
        <p:nvGraphicFramePr>
          <p:cNvPr id="7" name="Table 6"/>
          <p:cNvGraphicFramePr>
            <a:graphicFrameLocks noGrp="1"/>
          </p:cNvGraphicFramePr>
          <p:nvPr>
            <p:extLst>
              <p:ext uri="{D42A27DB-BD31-4B8C-83A1-F6EECF244321}">
                <p14:modId xmlns:p14="http://schemas.microsoft.com/office/powerpoint/2010/main" val="308590675"/>
              </p:ext>
            </p:extLst>
          </p:nvPr>
        </p:nvGraphicFramePr>
        <p:xfrm>
          <a:off x="243840" y="1815737"/>
          <a:ext cx="1584960" cy="4280757"/>
        </p:xfrm>
        <a:graphic>
          <a:graphicData uri="http://schemas.openxmlformats.org/drawingml/2006/table">
            <a:tbl>
              <a:tblPr firstRow="1" firstCol="1" bandRow="1">
                <a:tableStyleId>{5FD0F851-EC5A-4D38-B0AD-8093EC10F338}</a:tableStyleId>
              </a:tblPr>
              <a:tblGrid>
                <a:gridCol w="1584960"/>
              </a:tblGrid>
              <a:tr h="424749">
                <a:tc>
                  <a:txBody>
                    <a:bodyPr/>
                    <a:lstStyle/>
                    <a:p>
                      <a:pPr>
                        <a:lnSpc>
                          <a:spcPct val="107000"/>
                        </a:lnSpc>
                        <a:spcAft>
                          <a:spcPts val="800"/>
                        </a:spcAft>
                      </a:pPr>
                      <a:r>
                        <a:rPr lang="en-US" sz="1100" dirty="0">
                          <a:effectLst/>
                        </a:rPr>
                        <a:t>Test Case ID</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Test Scenario</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Steps</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Prerequisite</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Data</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Expected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Actual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Environment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Comments</a:t>
                      </a:r>
                      <a:endParaRPr lang="en-US" sz="1100" dirty="0">
                        <a:effectLst/>
                        <a:latin typeface="Calibri"/>
                        <a:ea typeface="Calibri"/>
                        <a:cs typeface="Times New Roman"/>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0310363"/>
              </p:ext>
            </p:extLst>
          </p:nvPr>
        </p:nvGraphicFramePr>
        <p:xfrm>
          <a:off x="1889760" y="1789611"/>
          <a:ext cx="4599265" cy="4281397"/>
        </p:xfrm>
        <a:graphic>
          <a:graphicData uri="http://schemas.openxmlformats.org/drawingml/2006/table">
            <a:tbl>
              <a:tblPr firstRow="1" firstCol="1" bandRow="1">
                <a:tableStyleId>{5FD0F851-EC5A-4D38-B0AD-8093EC10F338}</a:tableStyleId>
              </a:tblPr>
              <a:tblGrid>
                <a:gridCol w="4599265"/>
              </a:tblGrid>
              <a:tr h="325172">
                <a:tc>
                  <a:txBody>
                    <a:bodyPr/>
                    <a:lstStyle/>
                    <a:p>
                      <a:pPr>
                        <a:lnSpc>
                          <a:spcPct val="107000"/>
                        </a:lnSpc>
                        <a:spcAft>
                          <a:spcPts val="800"/>
                        </a:spcAft>
                      </a:pPr>
                      <a:r>
                        <a:rPr lang="en-US" sz="1100" dirty="0" smtClean="0">
                          <a:effectLst/>
                        </a:rPr>
                        <a:t>TC_002</a:t>
                      </a:r>
                      <a:endParaRPr lang="en-US" sz="1100" dirty="0">
                        <a:effectLst/>
                        <a:latin typeface="Calibri"/>
                        <a:ea typeface="Calibri"/>
                        <a:cs typeface="Times New Roman"/>
                      </a:endParaRPr>
                    </a:p>
                  </a:txBody>
                  <a:tcPr marL="9525" marR="9525" marT="9525" marB="9525" anchor="ctr"/>
                </a:tc>
              </a:tr>
              <a:tr h="453051">
                <a:tc>
                  <a:txBody>
                    <a:bodyPr/>
                    <a:lstStyle/>
                    <a:p>
                      <a:pPr>
                        <a:lnSpc>
                          <a:spcPct val="107000"/>
                        </a:lnSpc>
                        <a:spcAft>
                          <a:spcPts val="800"/>
                        </a:spcAft>
                      </a:pPr>
                      <a:r>
                        <a:rPr lang="en-US" sz="1200" b="1" kern="1200" dirty="0" smtClean="0">
                          <a:solidFill>
                            <a:schemeClr val="tx1"/>
                          </a:solidFill>
                          <a:latin typeface="+mn-lt"/>
                          <a:ea typeface="+mn-ea"/>
                          <a:cs typeface="+mn-cs"/>
                        </a:rPr>
                        <a:t>Verify if a student can view their grades.</a:t>
                      </a:r>
                      <a:endParaRPr lang="en-US" sz="1200" b="1" dirty="0">
                        <a:effectLst/>
                        <a:latin typeface="Calibri"/>
                        <a:ea typeface="Calibri"/>
                        <a:cs typeface="Times New Roman"/>
                      </a:endParaRPr>
                    </a:p>
                  </a:txBody>
                  <a:tcPr marL="9525" marR="9525" marT="9525" marB="9525" anchor="ctr"/>
                </a:tc>
              </a:tr>
              <a:tr h="862608">
                <a:tc>
                  <a:txBody>
                    <a:bodyPr/>
                    <a:lstStyle/>
                    <a:p>
                      <a:pPr>
                        <a:lnSpc>
                          <a:spcPct val="107000"/>
                        </a:lnSpc>
                        <a:spcAft>
                          <a:spcPts val="800"/>
                        </a:spcAft>
                      </a:pPr>
                      <a:r>
                        <a:rPr lang="en-US" sz="1800" b="1" kern="1200" dirty="0" smtClean="0">
                          <a:solidFill>
                            <a:schemeClr val="tx1"/>
                          </a:solidFill>
                          <a:latin typeface="+mn-lt"/>
                          <a:ea typeface="+mn-ea"/>
                          <a:cs typeface="+mn-cs"/>
                        </a:rPr>
                        <a:t>. </a:t>
                      </a:r>
                      <a:r>
                        <a:rPr lang="en-US" sz="1200" b="1" kern="1200" dirty="0" smtClean="0">
                          <a:solidFill>
                            <a:schemeClr val="tx1"/>
                          </a:solidFill>
                          <a:latin typeface="+mn-lt"/>
                          <a:ea typeface="+mn-ea"/>
                          <a:cs typeface="+mn-cs"/>
                        </a:rPr>
                        <a:t>Login to the Admission Portal.2. Navigate to the "View Grades" section.3. Verify grades are displayed.</a:t>
                      </a:r>
                      <a:endParaRPr lang="en-US" sz="1200" b="1" dirty="0">
                        <a:effectLst/>
                        <a:latin typeface="Calibri"/>
                        <a:ea typeface="Calibri"/>
                        <a:cs typeface="Times New Roman"/>
                      </a:endParaRPr>
                    </a:p>
                  </a:txBody>
                  <a:tcPr marL="9525" marR="9525" marT="9525" marB="9525" anchor="ctr"/>
                </a:tc>
              </a:tr>
              <a:tr h="417898">
                <a:tc>
                  <a:txBody>
                    <a:bodyPr/>
                    <a:lstStyle/>
                    <a:p>
                      <a:pPr>
                        <a:lnSpc>
                          <a:spcPct val="107000"/>
                        </a:lnSpc>
                        <a:spcAft>
                          <a:spcPts val="800"/>
                        </a:spcAft>
                      </a:pPr>
                      <a:r>
                        <a:rPr lang="en-US" sz="1200" b="1" kern="1200" dirty="0" smtClean="0">
                          <a:solidFill>
                            <a:schemeClr val="tx1"/>
                          </a:solidFill>
                          <a:latin typeface="+mn-lt"/>
                          <a:ea typeface="+mn-ea"/>
                          <a:cs typeface="+mn-cs"/>
                        </a:rPr>
                        <a:t>Student must be enrolled and grades must be uploaded by the admin.</a:t>
                      </a:r>
                      <a:endParaRPr lang="en-US" sz="1200" b="1" dirty="0">
                        <a:effectLst/>
                        <a:latin typeface="Calibri"/>
                        <a:ea typeface="Calibri"/>
                        <a:cs typeface="Times New Roman"/>
                      </a:endParaRPr>
                    </a:p>
                  </a:txBody>
                  <a:tcPr marL="9525" marR="9525" marT="9525" marB="9525" anchor="ctr"/>
                </a:tc>
              </a:tr>
              <a:tr h="453051">
                <a:tc>
                  <a:txBody>
                    <a:bodyPr/>
                    <a:lstStyle/>
                    <a:p>
                      <a:pPr>
                        <a:lnSpc>
                          <a:spcPct val="107000"/>
                        </a:lnSpc>
                        <a:spcAft>
                          <a:spcPts val="800"/>
                        </a:spcAft>
                      </a:pPr>
                      <a:r>
                        <a:rPr lang="en-US" sz="1200" b="1" kern="1200" dirty="0" smtClean="0">
                          <a:solidFill>
                            <a:schemeClr val="tx1"/>
                          </a:solidFill>
                          <a:latin typeface="+mn-lt"/>
                          <a:ea typeface="+mn-ea"/>
                          <a:cs typeface="+mn-cs"/>
                        </a:rPr>
                        <a:t>Username: </a:t>
                      </a:r>
                      <a:r>
                        <a:rPr lang="en-US" sz="1200" b="1" u="sng" kern="1200" dirty="0" smtClean="0">
                          <a:solidFill>
                            <a:schemeClr val="tx1"/>
                          </a:solidFill>
                          <a:latin typeface="+mn-lt"/>
                          <a:ea typeface="+mn-ea"/>
                          <a:cs typeface="+mn-cs"/>
                          <a:hlinkClick r:id="rId4"/>
                        </a:rPr>
                        <a:t>john@example.com</a:t>
                      </a:r>
                      <a:r>
                        <a:rPr lang="en-US" sz="1200" b="1" kern="1200" dirty="0" smtClean="0">
                          <a:solidFill>
                            <a:schemeClr val="tx1"/>
                          </a:solidFill>
                          <a:latin typeface="+mn-lt"/>
                          <a:ea typeface="+mn-ea"/>
                          <a:cs typeface="+mn-cs"/>
                        </a:rPr>
                        <a:t>, Password: Password123.</a:t>
                      </a:r>
                      <a:endParaRPr lang="en-US" sz="1200" dirty="0">
                        <a:effectLst/>
                        <a:latin typeface="Calibri"/>
                        <a:ea typeface="Calibri"/>
                        <a:cs typeface="Times New Roman"/>
                      </a:endParaRPr>
                    </a:p>
                  </a:txBody>
                  <a:tcPr marL="9525" marR="9525" marT="9525" marB="9525" anchor="ctr"/>
                </a:tc>
              </a:tr>
              <a:tr h="453051">
                <a:tc>
                  <a:txBody>
                    <a:bodyPr/>
                    <a:lstStyle/>
                    <a:p>
                      <a:pPr>
                        <a:lnSpc>
                          <a:spcPct val="107000"/>
                        </a:lnSpc>
                        <a:spcAft>
                          <a:spcPts val="800"/>
                        </a:spcAft>
                      </a:pPr>
                      <a:r>
                        <a:rPr lang="en-US" sz="1200" b="1" kern="1200" dirty="0" smtClean="0">
                          <a:solidFill>
                            <a:schemeClr val="tx1"/>
                          </a:solidFill>
                          <a:latin typeface="+mn-lt"/>
                          <a:ea typeface="+mn-ea"/>
                          <a:cs typeface="+mn-cs"/>
                        </a:rPr>
                        <a:t>Grades are displayed correctly for the logged-in student.</a:t>
                      </a:r>
                      <a:endParaRPr lang="en-US" sz="1200" b="1" dirty="0">
                        <a:effectLst/>
                        <a:latin typeface="Calibri"/>
                        <a:ea typeface="Calibri"/>
                        <a:cs typeface="Times New Roman"/>
                      </a:endParaRPr>
                    </a:p>
                  </a:txBody>
                  <a:tcPr marL="9525" marR="9525" marT="9525" marB="9525" anchor="ctr"/>
                </a:tc>
              </a:tr>
              <a:tr h="453051">
                <a:tc>
                  <a:txBody>
                    <a:bodyPr/>
                    <a:lstStyle/>
                    <a:p>
                      <a:pPr>
                        <a:lnSpc>
                          <a:spcPct val="107000"/>
                        </a:lnSpc>
                        <a:spcAft>
                          <a:spcPts val="800"/>
                        </a:spcAft>
                      </a:pPr>
                      <a:r>
                        <a:rPr lang="en-US" sz="1100">
                          <a:effectLst/>
                        </a:rPr>
                        <a:t>[To be filled after execution].</a:t>
                      </a:r>
                      <a:endParaRPr lang="en-US" sz="1100">
                        <a:effectLst/>
                        <a:latin typeface="Calibri"/>
                        <a:ea typeface="Calibri"/>
                        <a:cs typeface="Times New Roman"/>
                      </a:endParaRPr>
                    </a:p>
                  </a:txBody>
                  <a:tcPr marL="9525" marR="9525" marT="9525" marB="9525" anchor="ctr"/>
                </a:tc>
              </a:tr>
              <a:tr h="453051">
                <a:tc>
                  <a:txBody>
                    <a:bodyPr/>
                    <a:lstStyle/>
                    <a:p>
                      <a:pPr>
                        <a:lnSpc>
                          <a:spcPct val="107000"/>
                        </a:lnSpc>
                        <a:spcAft>
                          <a:spcPts val="800"/>
                        </a:spcAft>
                      </a:pPr>
                      <a:r>
                        <a:rPr lang="en-US" sz="1100" dirty="0">
                          <a:effectLst/>
                        </a:rPr>
                        <a:t>Web Browser: Chrome 112, OS: Windows 10.</a:t>
                      </a:r>
                      <a:endParaRPr lang="en-US" sz="1100" dirty="0">
                        <a:effectLst/>
                        <a:latin typeface="Calibri"/>
                        <a:ea typeface="Calibri"/>
                        <a:cs typeface="Times New Roman"/>
                      </a:endParaRPr>
                    </a:p>
                  </a:txBody>
                  <a:tcPr marL="9525" marR="9525" marT="9525" marB="9525" anchor="ctr"/>
                </a:tc>
              </a:tr>
              <a:tr h="374674">
                <a:tc>
                  <a:txBody>
                    <a:bodyPr/>
                    <a:lstStyle/>
                    <a:p>
                      <a:pPr>
                        <a:lnSpc>
                          <a:spcPct val="107000"/>
                        </a:lnSpc>
                        <a:spcAft>
                          <a:spcPts val="800"/>
                        </a:spcAft>
                      </a:pPr>
                      <a:r>
                        <a:rPr lang="en-US" sz="1200" b="1" kern="1200" dirty="0" smtClean="0">
                          <a:solidFill>
                            <a:schemeClr val="tx1"/>
                          </a:solidFill>
                          <a:latin typeface="+mn-lt"/>
                          <a:ea typeface="+mn-ea"/>
                          <a:cs typeface="+mn-cs"/>
                        </a:rPr>
                        <a:t>Check for grade accuracy and ensure security to prevent data leakage.</a:t>
                      </a:r>
                      <a:endParaRPr lang="en-US" sz="1200" b="1" dirty="0">
                        <a:effectLst/>
                        <a:latin typeface="Calibri"/>
                        <a:ea typeface="Calibri"/>
                        <a:cs typeface="Times New Roman"/>
                      </a:endParaRPr>
                    </a:p>
                  </a:txBody>
                  <a:tcPr marL="9525" marR="9525" marT="9525" marB="9525" anchor="ctr"/>
                </a:tc>
              </a:tr>
            </a:tbl>
          </a:graphicData>
        </a:graphic>
      </p:graphicFrame>
      <p:pic>
        <p:nvPicPr>
          <p:cNvPr id="2051" name="Picture 3" descr="60235 - Admission Icon Free Png - Free ..."/>
          <p:cNvPicPr>
            <a:picLocks noGrp="1" noChangeAspect="1" noChangeArrowheads="1"/>
          </p:cNvPicPr>
          <p:nvPr>
            <p:ph type="pic" sz="quarter" idx="48"/>
          </p:nvPr>
        </p:nvPicPr>
        <p:blipFill>
          <a:blip r:embed="rId5">
            <a:extLst>
              <a:ext uri="{BEBA8EAE-BF5A-486C-A8C5-ECC9F3942E4B}">
                <a14:imgProps xmlns:a14="http://schemas.microsoft.com/office/drawing/2010/main">
                  <a14:imgLayer r:embed="rId6">
                    <a14:imgEffect>
                      <a14:backgroundRemoval t="10000" b="90000" l="25346" r="74654"/>
                    </a14:imgEffect>
                  </a14:imgLayer>
                </a14:imgProps>
              </a:ext>
              <a:ext uri="{28A0092B-C50C-407E-A947-70E740481C1C}">
                <a14:useLocalDpi xmlns:a14="http://schemas.microsoft.com/office/drawing/2010/main" val="0"/>
              </a:ext>
            </a:extLst>
          </a:blip>
          <a:srcRect l="19182" r="19182"/>
          <a:stretch>
            <a:fillRect/>
          </a:stretch>
        </p:blipFill>
        <p:spPr bwMode="auto">
          <a:xfrm>
            <a:off x="8653111" y="872510"/>
            <a:ext cx="2838662" cy="316085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333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129669" y="186328"/>
            <a:ext cx="9823998" cy="1325563"/>
          </a:xfrm>
        </p:spPr>
        <p:txBody>
          <a:bodyPr/>
          <a:lstStyle/>
          <a:p>
            <a:r>
              <a:rPr lang="en-US" sz="4000" dirty="0" smtClean="0"/>
              <a:t>Test case:3</a:t>
            </a:r>
            <a:r>
              <a:rPr lang="en-US" dirty="0" smtClean="0"/>
              <a:t/>
            </a:r>
            <a:br>
              <a:rPr lang="en-US" dirty="0" smtClean="0"/>
            </a:br>
            <a:r>
              <a:rPr lang="en-US" sz="2000" dirty="0" smtClean="0"/>
              <a:t> Display Enrolled Students</a:t>
            </a:r>
            <a:endParaRPr lang="en-US" sz="2000"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464087" y="1210960"/>
            <a:ext cx="4959822" cy="4686920"/>
          </a:xfrm>
        </p:spPr>
        <p:txBody>
          <a:bodyPr/>
          <a:lstStyle/>
          <a:p>
            <a:r>
              <a:rPr lang="en-US" b="1" dirty="0" smtClean="0"/>
              <a:t> Field                        </a:t>
            </a:r>
            <a:r>
              <a:rPr lang="en-US" b="1" dirty="0"/>
              <a:t>Details</a:t>
            </a:r>
            <a:endParaRPr lang="en-US" dirty="0" smtClean="0"/>
          </a:p>
          <a:p>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 </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14</a:t>
            </a:fld>
            <a:endParaRPr lang="en-US" altLang="zh-CN" dirty="0"/>
          </a:p>
        </p:txBody>
      </p:sp>
      <p:graphicFrame>
        <p:nvGraphicFramePr>
          <p:cNvPr id="7" name="Table 6"/>
          <p:cNvGraphicFramePr>
            <a:graphicFrameLocks noGrp="1"/>
          </p:cNvGraphicFramePr>
          <p:nvPr>
            <p:extLst>
              <p:ext uri="{D42A27DB-BD31-4B8C-83A1-F6EECF244321}">
                <p14:modId xmlns:p14="http://schemas.microsoft.com/office/powerpoint/2010/main" val="308590675"/>
              </p:ext>
            </p:extLst>
          </p:nvPr>
        </p:nvGraphicFramePr>
        <p:xfrm>
          <a:off x="243840" y="1758485"/>
          <a:ext cx="1584960" cy="4338009"/>
        </p:xfrm>
        <a:graphic>
          <a:graphicData uri="http://schemas.openxmlformats.org/drawingml/2006/table">
            <a:tbl>
              <a:tblPr firstRow="1" firstCol="1" bandRow="1">
                <a:tableStyleId>{5FD0F851-EC5A-4D38-B0AD-8093EC10F338}</a:tableStyleId>
              </a:tblPr>
              <a:tblGrid>
                <a:gridCol w="1584960"/>
              </a:tblGrid>
              <a:tr h="482001">
                <a:tc>
                  <a:txBody>
                    <a:bodyPr/>
                    <a:lstStyle/>
                    <a:p>
                      <a:pPr>
                        <a:lnSpc>
                          <a:spcPct val="107000"/>
                        </a:lnSpc>
                        <a:spcAft>
                          <a:spcPts val="800"/>
                        </a:spcAft>
                      </a:pPr>
                      <a:r>
                        <a:rPr lang="en-US" sz="1100" dirty="0">
                          <a:effectLst/>
                        </a:rPr>
                        <a:t>Test Case ID</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Scenario</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Steps</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Prerequisite</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Data</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Expected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Actual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Environment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Comments</a:t>
                      </a:r>
                      <a:endParaRPr lang="en-US" sz="1100" dirty="0">
                        <a:effectLst/>
                        <a:latin typeface="Calibri"/>
                        <a:ea typeface="Calibri"/>
                        <a:cs typeface="Times New Roman"/>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0310363"/>
              </p:ext>
            </p:extLst>
          </p:nvPr>
        </p:nvGraphicFramePr>
        <p:xfrm>
          <a:off x="1889760" y="1752600"/>
          <a:ext cx="4599265" cy="4360817"/>
        </p:xfrm>
        <a:graphic>
          <a:graphicData uri="http://schemas.openxmlformats.org/drawingml/2006/table">
            <a:tbl>
              <a:tblPr firstRow="1" firstCol="1" bandRow="1">
                <a:tableStyleId>{5FD0F851-EC5A-4D38-B0AD-8093EC10F338}</a:tableStyleId>
              </a:tblPr>
              <a:tblGrid>
                <a:gridCol w="4599265"/>
              </a:tblGrid>
              <a:tr h="462915">
                <a:tc>
                  <a:txBody>
                    <a:bodyPr/>
                    <a:lstStyle/>
                    <a:p>
                      <a:pPr>
                        <a:lnSpc>
                          <a:spcPct val="107000"/>
                        </a:lnSpc>
                        <a:spcAft>
                          <a:spcPts val="800"/>
                        </a:spcAft>
                      </a:pPr>
                      <a:r>
                        <a:rPr lang="en-US" sz="1100" dirty="0" smtClean="0">
                          <a:effectLst/>
                        </a:rPr>
                        <a:t>TC_003</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Verify if the admin can view a list of all enrolled students.</a:t>
                      </a:r>
                      <a:endParaRPr lang="en-US" sz="1200" b="1" dirty="0">
                        <a:effectLst/>
                        <a:latin typeface="Calibri"/>
                        <a:ea typeface="Calibri"/>
                        <a:cs typeface="Times New Roman"/>
                      </a:endParaRPr>
                    </a:p>
                  </a:txBody>
                  <a:tcPr marL="9525" marR="9525" marT="9525" marB="9525" anchor="ctr"/>
                </a:tc>
              </a:tr>
              <a:tr h="837083">
                <a:tc>
                  <a:txBody>
                    <a:bodyPr/>
                    <a:lstStyle/>
                    <a:p>
                      <a:pPr>
                        <a:lnSpc>
                          <a:spcPct val="107000"/>
                        </a:lnSpc>
                        <a:spcAft>
                          <a:spcPts val="800"/>
                        </a:spcAft>
                      </a:pPr>
                      <a:r>
                        <a:rPr lang="en-US" sz="1200" b="1" kern="1200" dirty="0" smtClean="0">
                          <a:solidFill>
                            <a:schemeClr val="tx1"/>
                          </a:solidFill>
                          <a:latin typeface="+mn-lt"/>
                          <a:ea typeface="+mn-ea"/>
                          <a:cs typeface="+mn-cs"/>
                        </a:rPr>
                        <a:t>1. Login as admin.2. Navigate to the "Display Enrolled Students" section.3. Verify the list of students is displayed.</a:t>
                      </a:r>
                      <a:endParaRPr lang="en-US" sz="1200" b="1" dirty="0">
                        <a:effectLst/>
                        <a:latin typeface="Calibri"/>
                        <a:ea typeface="Calibri"/>
                        <a:cs typeface="Times New Roman"/>
                      </a:endParaRPr>
                    </a:p>
                  </a:txBody>
                  <a:tcPr marL="9525" marR="9525" marT="9525" marB="9525" anchor="ctr"/>
                </a:tc>
              </a:tr>
              <a:tr h="405532">
                <a:tc>
                  <a:txBody>
                    <a:bodyPr/>
                    <a:lstStyle/>
                    <a:p>
                      <a:pPr>
                        <a:lnSpc>
                          <a:spcPct val="107000"/>
                        </a:lnSpc>
                        <a:spcAft>
                          <a:spcPts val="800"/>
                        </a:spcAft>
                      </a:pPr>
                      <a:r>
                        <a:rPr lang="en-US" sz="1200" b="1" kern="1200" dirty="0" smtClean="0">
                          <a:solidFill>
                            <a:schemeClr val="tx1"/>
                          </a:solidFill>
                          <a:latin typeface="+mn-lt"/>
                          <a:ea typeface="+mn-ea"/>
                          <a:cs typeface="+mn-cs"/>
                        </a:rPr>
                        <a:t>There should be enrolled students in the database.</a:t>
                      </a:r>
                      <a:endParaRPr lang="en-US" sz="1200" b="1"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Admin Username: </a:t>
                      </a:r>
                      <a:r>
                        <a:rPr lang="en-US" sz="1200" b="1" u="sng" kern="1200" dirty="0" smtClean="0">
                          <a:solidFill>
                            <a:schemeClr val="tx1"/>
                          </a:solidFill>
                          <a:latin typeface="+mn-lt"/>
                          <a:ea typeface="+mn-ea"/>
                          <a:cs typeface="+mn-cs"/>
                          <a:hlinkClick r:id="rId4"/>
                        </a:rPr>
                        <a:t>admin@example.com</a:t>
                      </a:r>
                      <a:r>
                        <a:rPr lang="en-US" sz="1200" b="1" kern="1200" dirty="0" smtClean="0">
                          <a:solidFill>
                            <a:schemeClr val="tx1"/>
                          </a:solidFill>
                          <a:latin typeface="+mn-lt"/>
                          <a:ea typeface="+mn-ea"/>
                          <a:cs typeface="+mn-cs"/>
                        </a:rPr>
                        <a:t>, Password: Admin123.</a:t>
                      </a:r>
                      <a:endParaRPr lang="en-US" sz="1200" b="1"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A complete list of enrolled students is displayed.</a:t>
                      </a:r>
                      <a:endParaRPr lang="en-US" sz="1200" b="1"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a:effectLst/>
                        </a:rPr>
                        <a:t>[To be filled after execution].</a:t>
                      </a:r>
                      <a:endParaRPr lang="en-US" sz="110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dirty="0">
                          <a:effectLst/>
                        </a:rPr>
                        <a:t>Web Browser: Chrome 112, OS: Windows 10.</a:t>
                      </a:r>
                      <a:endParaRPr lang="en-US" sz="1100" dirty="0">
                        <a:effectLst/>
                        <a:latin typeface="Calibri"/>
                        <a:ea typeface="Calibri"/>
                        <a:cs typeface="Times New Roman"/>
                      </a:endParaRPr>
                    </a:p>
                  </a:txBody>
                  <a:tcPr marL="9525" marR="9525" marT="9525" marB="9525" anchor="ctr"/>
                </a:tc>
              </a:tr>
              <a:tr h="457062">
                <a:tc>
                  <a:txBody>
                    <a:bodyPr/>
                    <a:lstStyle/>
                    <a:p>
                      <a:pPr>
                        <a:lnSpc>
                          <a:spcPct val="107000"/>
                        </a:lnSpc>
                        <a:spcAft>
                          <a:spcPts val="800"/>
                        </a:spcAft>
                      </a:pPr>
                      <a:r>
                        <a:rPr lang="en-US" sz="1200" b="1" kern="1200" dirty="0" smtClean="0">
                          <a:solidFill>
                            <a:schemeClr val="tx1"/>
                          </a:solidFill>
                          <a:latin typeface="+mn-lt"/>
                          <a:ea typeface="+mn-ea"/>
                          <a:cs typeface="+mn-cs"/>
                        </a:rPr>
                        <a:t>Check for correct data retrieval and performance under large datasets.</a:t>
                      </a:r>
                      <a:endParaRPr lang="en-US" sz="1200" b="1" dirty="0">
                        <a:effectLst/>
                        <a:latin typeface="Calibri"/>
                        <a:ea typeface="Calibri"/>
                        <a:cs typeface="Times New Roman"/>
                      </a:endParaRPr>
                    </a:p>
                  </a:txBody>
                  <a:tcPr marL="9525" marR="9525" marT="9525" marB="9525" anchor="ctr"/>
                </a:tc>
              </a:tr>
            </a:tbl>
          </a:graphicData>
        </a:graphic>
      </p:graphicFrame>
      <p:pic>
        <p:nvPicPr>
          <p:cNvPr id="2051" name="Picture 3" descr="60235 - Admission Icon Free Png - Free ..."/>
          <p:cNvPicPr>
            <a:picLocks noGrp="1" noChangeAspect="1" noChangeArrowheads="1"/>
          </p:cNvPicPr>
          <p:nvPr>
            <p:ph type="pic" sz="quarter" idx="48"/>
          </p:nvPr>
        </p:nvPicPr>
        <p:blipFill>
          <a:blip r:embed="rId5">
            <a:extLst>
              <a:ext uri="{BEBA8EAE-BF5A-486C-A8C5-ECC9F3942E4B}">
                <a14:imgProps xmlns:a14="http://schemas.microsoft.com/office/drawing/2010/main">
                  <a14:imgLayer r:embed="rId6">
                    <a14:imgEffect>
                      <a14:backgroundRemoval t="10000" b="90000" l="25346" r="74654"/>
                    </a14:imgEffect>
                  </a14:imgLayer>
                </a14:imgProps>
              </a:ext>
              <a:ext uri="{28A0092B-C50C-407E-A947-70E740481C1C}">
                <a14:useLocalDpi xmlns:a14="http://schemas.microsoft.com/office/drawing/2010/main" val="0"/>
              </a:ext>
            </a:extLst>
          </a:blip>
          <a:srcRect l="19182" r="19182"/>
          <a:stretch>
            <a:fillRect/>
          </a:stretch>
        </p:blipFill>
        <p:spPr bwMode="auto">
          <a:xfrm>
            <a:off x="8653111" y="872510"/>
            <a:ext cx="2838662" cy="316085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3338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129669" y="186328"/>
            <a:ext cx="9823998" cy="1325563"/>
          </a:xfrm>
        </p:spPr>
        <p:txBody>
          <a:bodyPr/>
          <a:lstStyle/>
          <a:p>
            <a:r>
              <a:rPr lang="en-US" sz="4000" dirty="0" smtClean="0"/>
              <a:t>Test case:4</a:t>
            </a:r>
            <a:r>
              <a:rPr lang="en-US" dirty="0" smtClean="0"/>
              <a:t/>
            </a:r>
            <a:br>
              <a:rPr lang="en-US" dirty="0" smtClean="0"/>
            </a:br>
            <a:r>
              <a:rPr lang="en-US" sz="2000" dirty="0" smtClean="0"/>
              <a:t>Search for Student</a:t>
            </a:r>
            <a:endParaRPr lang="en-US" sz="2000"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464087" y="1210960"/>
            <a:ext cx="4959822" cy="4686920"/>
          </a:xfrm>
        </p:spPr>
        <p:txBody>
          <a:bodyPr/>
          <a:lstStyle/>
          <a:p>
            <a:r>
              <a:rPr lang="en-US" b="1" dirty="0" smtClean="0"/>
              <a:t> Field                        </a:t>
            </a:r>
            <a:r>
              <a:rPr lang="en-US" b="1" dirty="0"/>
              <a:t>Details</a:t>
            </a:r>
            <a:endParaRPr lang="en-US" dirty="0" smtClean="0"/>
          </a:p>
          <a:p>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 </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15</a:t>
            </a:fld>
            <a:endParaRPr lang="en-US" altLang="zh-CN" dirty="0"/>
          </a:p>
        </p:txBody>
      </p:sp>
      <p:graphicFrame>
        <p:nvGraphicFramePr>
          <p:cNvPr id="7" name="Table 6"/>
          <p:cNvGraphicFramePr>
            <a:graphicFrameLocks noGrp="1"/>
          </p:cNvGraphicFramePr>
          <p:nvPr>
            <p:extLst>
              <p:ext uri="{D42A27DB-BD31-4B8C-83A1-F6EECF244321}">
                <p14:modId xmlns:p14="http://schemas.microsoft.com/office/powerpoint/2010/main" val="308590675"/>
              </p:ext>
            </p:extLst>
          </p:nvPr>
        </p:nvGraphicFramePr>
        <p:xfrm>
          <a:off x="243840" y="1758485"/>
          <a:ext cx="1584960" cy="4338009"/>
        </p:xfrm>
        <a:graphic>
          <a:graphicData uri="http://schemas.openxmlformats.org/drawingml/2006/table">
            <a:tbl>
              <a:tblPr firstRow="1" firstCol="1" bandRow="1">
                <a:tableStyleId>{5FD0F851-EC5A-4D38-B0AD-8093EC10F338}</a:tableStyleId>
              </a:tblPr>
              <a:tblGrid>
                <a:gridCol w="1584960"/>
              </a:tblGrid>
              <a:tr h="482001">
                <a:tc>
                  <a:txBody>
                    <a:bodyPr/>
                    <a:lstStyle/>
                    <a:p>
                      <a:pPr>
                        <a:lnSpc>
                          <a:spcPct val="107000"/>
                        </a:lnSpc>
                        <a:spcAft>
                          <a:spcPts val="800"/>
                        </a:spcAft>
                      </a:pPr>
                      <a:r>
                        <a:rPr lang="en-US" sz="1100" dirty="0">
                          <a:effectLst/>
                        </a:rPr>
                        <a:t>Test Case ID</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Scenario</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Steps</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Prerequisite</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Data</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Expected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Actual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Environment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Comments</a:t>
                      </a:r>
                      <a:endParaRPr lang="en-US" sz="1100" dirty="0">
                        <a:effectLst/>
                        <a:latin typeface="Calibri"/>
                        <a:ea typeface="Calibri"/>
                        <a:cs typeface="Times New Roman"/>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0310363"/>
              </p:ext>
            </p:extLst>
          </p:nvPr>
        </p:nvGraphicFramePr>
        <p:xfrm>
          <a:off x="1889760" y="1752600"/>
          <a:ext cx="4599265" cy="4343400"/>
        </p:xfrm>
        <a:graphic>
          <a:graphicData uri="http://schemas.openxmlformats.org/drawingml/2006/table">
            <a:tbl>
              <a:tblPr firstRow="1" firstCol="1" bandRow="1">
                <a:tableStyleId>{5FD0F851-EC5A-4D38-B0AD-8093EC10F338}</a:tableStyleId>
              </a:tblPr>
              <a:tblGrid>
                <a:gridCol w="4599265"/>
              </a:tblGrid>
              <a:tr h="462915">
                <a:tc>
                  <a:txBody>
                    <a:bodyPr/>
                    <a:lstStyle/>
                    <a:p>
                      <a:pPr>
                        <a:lnSpc>
                          <a:spcPct val="107000"/>
                        </a:lnSpc>
                        <a:spcAft>
                          <a:spcPts val="800"/>
                        </a:spcAft>
                      </a:pPr>
                      <a:r>
                        <a:rPr lang="en-US" sz="1100" dirty="0" smtClean="0">
                          <a:effectLst/>
                        </a:rPr>
                        <a:t>TC_004</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Verify if admin can search for a student using various filters (e.g., name, ID).</a:t>
                      </a:r>
                      <a:endParaRPr lang="en-US" sz="1200" b="0" dirty="0">
                        <a:effectLst/>
                        <a:latin typeface="Calibri"/>
                        <a:ea typeface="Calibri"/>
                        <a:cs typeface="Times New Roman"/>
                      </a:endParaRPr>
                    </a:p>
                  </a:txBody>
                  <a:tcPr marL="9525" marR="9525" marT="9525" marB="9525" anchor="ctr"/>
                </a:tc>
              </a:tr>
              <a:tr h="837083">
                <a:tc>
                  <a:txBody>
                    <a:bodyPr/>
                    <a:lstStyle/>
                    <a:p>
                      <a:pPr>
                        <a:lnSpc>
                          <a:spcPct val="107000"/>
                        </a:lnSpc>
                        <a:spcAft>
                          <a:spcPts val="800"/>
                        </a:spcAft>
                      </a:pPr>
                      <a:r>
                        <a:rPr lang="en-US" sz="1200" b="1" kern="1200" dirty="0" smtClean="0">
                          <a:solidFill>
                            <a:schemeClr val="tx1"/>
                          </a:solidFill>
                          <a:latin typeface="+mn-lt"/>
                          <a:ea typeface="+mn-ea"/>
                          <a:cs typeface="+mn-cs"/>
                        </a:rPr>
                        <a:t>1. Login as admin.2. Navigate to the "Search for Student" section.3. Enter search criteria (e.g., student name).4. Submit search request.</a:t>
                      </a:r>
                      <a:endParaRPr lang="en-US" sz="1200" b="0" dirty="0">
                        <a:effectLst/>
                        <a:latin typeface="Calibri"/>
                        <a:ea typeface="Calibri"/>
                        <a:cs typeface="Times New Roman"/>
                      </a:endParaRPr>
                    </a:p>
                  </a:txBody>
                  <a:tcPr marL="9525" marR="9525" marT="9525" marB="9525" anchor="ctr"/>
                </a:tc>
              </a:tr>
              <a:tr h="405532">
                <a:tc>
                  <a:txBody>
                    <a:bodyPr/>
                    <a:lstStyle/>
                    <a:p>
                      <a:pPr>
                        <a:lnSpc>
                          <a:spcPct val="107000"/>
                        </a:lnSpc>
                        <a:spcAft>
                          <a:spcPts val="800"/>
                        </a:spcAft>
                      </a:pPr>
                      <a:r>
                        <a:rPr lang="en-US" sz="1200" b="1" kern="1200" dirty="0" smtClean="0">
                          <a:solidFill>
                            <a:schemeClr val="tx1"/>
                          </a:solidFill>
                          <a:latin typeface="+mn-lt"/>
                          <a:ea typeface="+mn-ea"/>
                          <a:cs typeface="+mn-cs"/>
                        </a:rPr>
                        <a:t>Student records must exist in the database.</a:t>
                      </a:r>
                      <a:endParaRPr lang="en-US" sz="1200" b="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Student Name: John Doe.</a:t>
                      </a:r>
                      <a:endParaRPr lang="en-US" sz="1200" b="0" dirty="0">
                        <a:effectLst/>
                        <a:latin typeface="Calibri"/>
                        <a:ea typeface="Calibri"/>
                        <a:cs typeface="Times New Roman"/>
                      </a:endParaRPr>
                    </a:p>
                  </a:txBody>
                  <a:tcPr marL="9525" marR="9525" marT="9525" marB="9525" anchor="ctr"/>
                </a:tc>
              </a:tr>
              <a:tr h="439645">
                <a:tc>
                  <a:txBody>
                    <a:bodyPr/>
                    <a:lstStyle/>
                    <a:p>
                      <a:pPr marL="0" marR="0">
                        <a:lnSpc>
                          <a:spcPct val="107000"/>
                        </a:lnSpc>
                        <a:spcBef>
                          <a:spcPts val="0"/>
                        </a:spcBef>
                        <a:spcAft>
                          <a:spcPts val="800"/>
                        </a:spcAft>
                      </a:pPr>
                      <a:r>
                        <a:rPr lang="en-US" sz="1100" dirty="0">
                          <a:latin typeface="Calibri"/>
                          <a:ea typeface="Calibri"/>
                          <a:cs typeface="Times New Roman"/>
                        </a:rPr>
                        <a:t>The search result displays the correct student record.</a:t>
                      </a:r>
                    </a:p>
                  </a:txBody>
                  <a:tcPr marL="9525" marR="9525" marT="9525" marB="9525" anchor="ctr"/>
                </a:tc>
              </a:tr>
              <a:tr h="439645">
                <a:tc>
                  <a:txBody>
                    <a:bodyPr/>
                    <a:lstStyle/>
                    <a:p>
                      <a:pPr>
                        <a:lnSpc>
                          <a:spcPct val="107000"/>
                        </a:lnSpc>
                        <a:spcAft>
                          <a:spcPts val="800"/>
                        </a:spcAft>
                      </a:pPr>
                      <a:r>
                        <a:rPr lang="en-US" sz="1100" dirty="0">
                          <a:effectLst/>
                        </a:rPr>
                        <a:t>[To be filled after execution].</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Web Browser: Edge 115, OS: macOS Monterey.</a:t>
                      </a:r>
                      <a:endParaRPr lang="en-US" sz="12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Validate search by various fields (e.g., name, ID, email).</a:t>
                      </a:r>
                      <a:endParaRPr lang="en-US" sz="1200" b="0" dirty="0">
                        <a:effectLst/>
                        <a:latin typeface="Calibri"/>
                        <a:ea typeface="Calibri"/>
                        <a:cs typeface="Times New Roman"/>
                      </a:endParaRPr>
                    </a:p>
                  </a:txBody>
                  <a:tcPr marL="9525" marR="9525" marT="9525" marB="9525" anchor="ctr"/>
                </a:tc>
              </a:tr>
            </a:tbl>
          </a:graphicData>
        </a:graphic>
      </p:graphicFrame>
      <p:pic>
        <p:nvPicPr>
          <p:cNvPr id="2051" name="Picture 3" descr="60235 - Admission Icon Free Png - Free ..."/>
          <p:cNvPicPr>
            <a:picLocks noGrp="1" noChangeAspect="1" noChangeArrowheads="1"/>
          </p:cNvPicPr>
          <p:nvPr>
            <p:ph type="pic" sz="quarter" idx="48"/>
          </p:nvPr>
        </p:nvPicPr>
        <p:blipFill>
          <a:blip r:embed="rId4">
            <a:extLst>
              <a:ext uri="{BEBA8EAE-BF5A-486C-A8C5-ECC9F3942E4B}">
                <a14:imgProps xmlns:a14="http://schemas.microsoft.com/office/drawing/2010/main">
                  <a14:imgLayer r:embed="rId5">
                    <a14:imgEffect>
                      <a14:backgroundRemoval t="10000" b="90000" l="25346" r="74654"/>
                    </a14:imgEffect>
                  </a14:imgLayer>
                </a14:imgProps>
              </a:ext>
              <a:ext uri="{28A0092B-C50C-407E-A947-70E740481C1C}">
                <a14:useLocalDpi xmlns:a14="http://schemas.microsoft.com/office/drawing/2010/main" val="0"/>
              </a:ext>
            </a:extLst>
          </a:blip>
          <a:srcRect l="19182" r="19182"/>
          <a:stretch>
            <a:fillRect/>
          </a:stretch>
        </p:blipFill>
        <p:spPr bwMode="auto">
          <a:xfrm>
            <a:off x="8653111" y="872510"/>
            <a:ext cx="2838662" cy="316085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333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4EFA9173-F892-5C7D-99AF-4C5FFB1532B4}"/>
              </a:ext>
            </a:extLst>
          </p:cNvPr>
          <p:cNvSpPr>
            <a:spLocks noGrp="1"/>
          </p:cNvSpPr>
          <p:nvPr>
            <p:ph type="title"/>
          </p:nvPr>
        </p:nvSpPr>
        <p:spPr>
          <a:xfrm>
            <a:off x="129669" y="186328"/>
            <a:ext cx="9823998" cy="1325563"/>
          </a:xfrm>
        </p:spPr>
        <p:txBody>
          <a:bodyPr/>
          <a:lstStyle/>
          <a:p>
            <a:r>
              <a:rPr lang="en-US" sz="4000" dirty="0" smtClean="0"/>
              <a:t>Test case:5</a:t>
            </a:r>
            <a:r>
              <a:rPr lang="en-US" dirty="0" smtClean="0"/>
              <a:t/>
            </a:r>
            <a:br>
              <a:rPr lang="en-US" dirty="0" smtClean="0"/>
            </a:br>
            <a:r>
              <a:rPr lang="en-US" sz="2000" dirty="0" smtClean="0"/>
              <a:t>Generate Reports</a:t>
            </a:r>
            <a:endParaRPr lang="en-US" sz="2000" dirty="0"/>
          </a:p>
        </p:txBody>
      </p:sp>
      <p:sp>
        <p:nvSpPr>
          <p:cNvPr id="29" name="Text Placeholder 28">
            <a:extLst>
              <a:ext uri="{FF2B5EF4-FFF2-40B4-BE49-F238E27FC236}">
                <a16:creationId xmlns:a16="http://schemas.microsoft.com/office/drawing/2014/main" xmlns="" id="{52FD53DB-CD39-2575-F8BA-63488E81091E}"/>
              </a:ext>
            </a:extLst>
          </p:cNvPr>
          <p:cNvSpPr>
            <a:spLocks noGrp="1"/>
          </p:cNvSpPr>
          <p:nvPr>
            <p:ph type="body" sz="quarter" idx="28"/>
          </p:nvPr>
        </p:nvSpPr>
        <p:spPr>
          <a:xfrm>
            <a:off x="464087" y="1210960"/>
            <a:ext cx="4959822" cy="4686920"/>
          </a:xfrm>
        </p:spPr>
        <p:txBody>
          <a:bodyPr/>
          <a:lstStyle/>
          <a:p>
            <a:r>
              <a:rPr lang="en-US" b="1" dirty="0" smtClean="0"/>
              <a:t> Field                        </a:t>
            </a:r>
            <a:r>
              <a:rPr lang="en-US" b="1" dirty="0"/>
              <a:t>Details</a:t>
            </a:r>
            <a:endParaRPr lang="en-US" dirty="0" smtClean="0"/>
          </a:p>
          <a:p>
            <a:endParaRPr lang="en-US" dirty="0"/>
          </a:p>
        </p:txBody>
      </p:sp>
      <p:pic>
        <p:nvPicPr>
          <p:cNvPr id="39" name="Picture Placeholder 31">
            <a:extLst>
              <a:ext uri="{FF2B5EF4-FFF2-40B4-BE49-F238E27FC236}">
                <a16:creationId xmlns:a16="http://schemas.microsoft.com/office/drawing/2014/main" xmlns="" id="{6037332D-8714-C147-6E64-3654D8C57839}"/>
              </a:ext>
              <a:ext uri="{C183D7F6-B498-43B3-948B-1728B52AA6E4}">
                <adec:decorative xmlns:adec="http://schemas.microsoft.com/office/drawing/2017/decorative" xmlns="" val="1"/>
              </a:ext>
            </a:extLst>
          </p:cNvPr>
          <p:cNvPicPr>
            <a:picLocks noChangeAspect="1"/>
          </p:cNvPicPr>
          <p:nvPr/>
        </p:nvPicPr>
        <p:blipFill>
          <a:blip r:embed="rId3"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xmlns="" id="{8E531165-F745-171F-F6EC-07FDD4E3E06C}"/>
              </a:ext>
            </a:extLst>
          </p:cNvPr>
          <p:cNvSpPr>
            <a:spLocks noGrp="1"/>
          </p:cNvSpPr>
          <p:nvPr>
            <p:ph type="ftr" sz="quarter" idx="49"/>
          </p:nvPr>
        </p:nvSpPr>
        <p:spPr/>
        <p:txBody>
          <a:bodyPr/>
          <a:lstStyle/>
          <a:p>
            <a:r>
              <a:rPr lang="en-US" dirty="0" smtClean="0"/>
              <a:t>Admission Portal </a:t>
            </a:r>
            <a:endParaRPr lang="en-US" dirty="0"/>
          </a:p>
        </p:txBody>
      </p:sp>
      <p:sp>
        <p:nvSpPr>
          <p:cNvPr id="5" name="Slide Number Placeholder 4">
            <a:extLst>
              <a:ext uri="{FF2B5EF4-FFF2-40B4-BE49-F238E27FC236}">
                <a16:creationId xmlns:a16="http://schemas.microsoft.com/office/drawing/2014/main" xmlns="" id="{02F30A6A-65C9-04FE-77CF-C95CC406DBDB}"/>
              </a:ext>
            </a:extLst>
          </p:cNvPr>
          <p:cNvSpPr>
            <a:spLocks noGrp="1"/>
          </p:cNvSpPr>
          <p:nvPr>
            <p:ph type="sldNum" sz="quarter" idx="50"/>
          </p:nvPr>
        </p:nvSpPr>
        <p:spPr/>
        <p:txBody>
          <a:bodyPr/>
          <a:lstStyle/>
          <a:p>
            <a:fld id="{47FEACEE-25B4-4A2D-B147-27296E36371D}" type="slidenum">
              <a:rPr lang="en-US" altLang="zh-CN" smtClean="0"/>
              <a:pPr/>
              <a:t>16</a:t>
            </a:fld>
            <a:endParaRPr lang="en-US" altLang="zh-CN" dirty="0"/>
          </a:p>
        </p:txBody>
      </p:sp>
      <p:graphicFrame>
        <p:nvGraphicFramePr>
          <p:cNvPr id="7" name="Table 6"/>
          <p:cNvGraphicFramePr>
            <a:graphicFrameLocks noGrp="1"/>
          </p:cNvGraphicFramePr>
          <p:nvPr>
            <p:extLst>
              <p:ext uri="{D42A27DB-BD31-4B8C-83A1-F6EECF244321}">
                <p14:modId xmlns:p14="http://schemas.microsoft.com/office/powerpoint/2010/main" val="308590675"/>
              </p:ext>
            </p:extLst>
          </p:nvPr>
        </p:nvGraphicFramePr>
        <p:xfrm>
          <a:off x="243840" y="1758485"/>
          <a:ext cx="1584960" cy="4338009"/>
        </p:xfrm>
        <a:graphic>
          <a:graphicData uri="http://schemas.openxmlformats.org/drawingml/2006/table">
            <a:tbl>
              <a:tblPr firstRow="1" firstCol="1" bandRow="1">
                <a:tableStyleId>{5FD0F851-EC5A-4D38-B0AD-8093EC10F338}</a:tableStyleId>
              </a:tblPr>
              <a:tblGrid>
                <a:gridCol w="1584960"/>
              </a:tblGrid>
              <a:tr h="482001">
                <a:tc>
                  <a:txBody>
                    <a:bodyPr/>
                    <a:lstStyle/>
                    <a:p>
                      <a:pPr>
                        <a:lnSpc>
                          <a:spcPct val="107000"/>
                        </a:lnSpc>
                        <a:spcAft>
                          <a:spcPts val="800"/>
                        </a:spcAft>
                      </a:pPr>
                      <a:r>
                        <a:rPr lang="en-US" sz="1100" dirty="0">
                          <a:effectLst/>
                        </a:rPr>
                        <a:t>Test Case ID</a:t>
                      </a:r>
                      <a:endParaRPr lang="en-US" sz="1100" dirty="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Scenario</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Steps</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Prerequisite</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Test Data</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Expected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Actual Result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a:effectLst/>
                        </a:rPr>
                        <a:t>Environment</a:t>
                      </a:r>
                      <a:endParaRPr lang="en-US" sz="1100">
                        <a:effectLst/>
                        <a:latin typeface="Calibri"/>
                        <a:ea typeface="Calibri"/>
                        <a:cs typeface="Times New Roman"/>
                      </a:endParaRPr>
                    </a:p>
                  </a:txBody>
                  <a:tcPr marL="9525" marR="9525" marT="9525" marB="9525" anchor="ctr"/>
                </a:tc>
              </a:tr>
              <a:tr h="482001">
                <a:tc>
                  <a:txBody>
                    <a:bodyPr/>
                    <a:lstStyle/>
                    <a:p>
                      <a:pPr>
                        <a:lnSpc>
                          <a:spcPct val="107000"/>
                        </a:lnSpc>
                        <a:spcAft>
                          <a:spcPts val="800"/>
                        </a:spcAft>
                      </a:pPr>
                      <a:r>
                        <a:rPr lang="en-US" sz="1100" dirty="0">
                          <a:effectLst/>
                        </a:rPr>
                        <a:t>Comments</a:t>
                      </a:r>
                      <a:endParaRPr lang="en-US" sz="1100" dirty="0">
                        <a:effectLst/>
                        <a:latin typeface="Calibri"/>
                        <a:ea typeface="Calibri"/>
                        <a:cs typeface="Times New Roman"/>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110310363"/>
              </p:ext>
            </p:extLst>
          </p:nvPr>
        </p:nvGraphicFramePr>
        <p:xfrm>
          <a:off x="1889760" y="1752600"/>
          <a:ext cx="4599265" cy="4348332"/>
        </p:xfrm>
        <a:graphic>
          <a:graphicData uri="http://schemas.openxmlformats.org/drawingml/2006/table">
            <a:tbl>
              <a:tblPr firstRow="1" firstCol="1" bandRow="1">
                <a:tableStyleId>{5FD0F851-EC5A-4D38-B0AD-8093EC10F338}</a:tableStyleId>
              </a:tblPr>
              <a:tblGrid>
                <a:gridCol w="4599265"/>
              </a:tblGrid>
              <a:tr h="462915">
                <a:tc>
                  <a:txBody>
                    <a:bodyPr/>
                    <a:lstStyle/>
                    <a:p>
                      <a:pPr>
                        <a:lnSpc>
                          <a:spcPct val="107000"/>
                        </a:lnSpc>
                        <a:spcAft>
                          <a:spcPts val="800"/>
                        </a:spcAft>
                      </a:pPr>
                      <a:r>
                        <a:rPr lang="en-US" sz="1100" dirty="0" smtClean="0">
                          <a:effectLst/>
                        </a:rPr>
                        <a:t>TC_005</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Verify if the admin can generate reports on admissions.</a:t>
                      </a:r>
                      <a:endParaRPr lang="en-US" sz="1200" b="0" dirty="0">
                        <a:effectLst/>
                        <a:latin typeface="Calibri"/>
                        <a:ea typeface="Calibri"/>
                        <a:cs typeface="Times New Roman"/>
                      </a:endParaRPr>
                    </a:p>
                  </a:txBody>
                  <a:tcPr marL="9525" marR="9525" marT="9525" marB="9525" anchor="ctr"/>
                </a:tc>
              </a:tr>
              <a:tr h="837083">
                <a:tc>
                  <a:txBody>
                    <a:bodyPr/>
                    <a:lstStyle/>
                    <a:p>
                      <a:pPr>
                        <a:lnSpc>
                          <a:spcPct val="107000"/>
                        </a:lnSpc>
                        <a:spcAft>
                          <a:spcPts val="800"/>
                        </a:spcAft>
                      </a:pPr>
                      <a:r>
                        <a:rPr lang="en-US" sz="1200" b="1" kern="1200" dirty="0" smtClean="0">
                          <a:solidFill>
                            <a:schemeClr val="tx1"/>
                          </a:solidFill>
                          <a:latin typeface="+mn-lt"/>
                          <a:ea typeface="+mn-ea"/>
                          <a:cs typeface="+mn-cs"/>
                        </a:rPr>
                        <a:t>1. Login as admin.2. Navigate to "Generate Reports" section.3. Choose report type (e.g., admission status, enrolled students).4. Submit the request.</a:t>
                      </a:r>
                      <a:endParaRPr lang="en-US" sz="1200" b="0" dirty="0">
                        <a:effectLst/>
                        <a:latin typeface="Calibri"/>
                        <a:ea typeface="Calibri"/>
                        <a:cs typeface="Times New Roman"/>
                      </a:endParaRPr>
                    </a:p>
                  </a:txBody>
                  <a:tcPr marL="9525" marR="9525" marT="9525" marB="9525" anchor="ctr"/>
                </a:tc>
              </a:tr>
              <a:tr h="405532">
                <a:tc>
                  <a:txBody>
                    <a:bodyPr/>
                    <a:lstStyle/>
                    <a:p>
                      <a:pPr>
                        <a:lnSpc>
                          <a:spcPct val="107000"/>
                        </a:lnSpc>
                        <a:spcAft>
                          <a:spcPts val="800"/>
                        </a:spcAft>
                      </a:pPr>
                      <a:r>
                        <a:rPr lang="en-US" sz="1200" b="1" kern="1200" dirty="0" smtClean="0">
                          <a:solidFill>
                            <a:schemeClr val="tx1"/>
                          </a:solidFill>
                          <a:latin typeface="+mn-lt"/>
                          <a:ea typeface="+mn-ea"/>
                          <a:cs typeface="+mn-cs"/>
                        </a:rPr>
                        <a:t>Students must be registered and admissions data must be available.</a:t>
                      </a:r>
                      <a:endParaRPr lang="en-US" sz="1200" b="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Report Type: Enrolled Students.</a:t>
                      </a:r>
                      <a:endParaRPr lang="en-US" sz="1200" b="0" dirty="0">
                        <a:effectLst/>
                        <a:latin typeface="Calibri"/>
                        <a:ea typeface="Calibri"/>
                        <a:cs typeface="Times New Roman"/>
                      </a:endParaRPr>
                    </a:p>
                  </a:txBody>
                  <a:tcPr marL="9525" marR="9525" marT="9525" marB="9525" anchor="ctr"/>
                </a:tc>
              </a:tr>
              <a:tr h="439645">
                <a:tc>
                  <a:txBody>
                    <a:bodyPr/>
                    <a:lstStyle/>
                    <a:p>
                      <a:pPr marL="0" marR="0">
                        <a:lnSpc>
                          <a:spcPct val="107000"/>
                        </a:lnSpc>
                        <a:spcBef>
                          <a:spcPts val="0"/>
                        </a:spcBef>
                        <a:spcAft>
                          <a:spcPts val="800"/>
                        </a:spcAft>
                      </a:pPr>
                      <a:r>
                        <a:rPr lang="en-US" sz="1200" b="1" kern="1200" dirty="0" smtClean="0">
                          <a:solidFill>
                            <a:schemeClr val="tx1"/>
                          </a:solidFill>
                          <a:latin typeface="+mn-lt"/>
                          <a:ea typeface="+mn-ea"/>
                          <a:cs typeface="+mn-cs"/>
                        </a:rPr>
                        <a:t>Report is generated and displayed/downloaded successfully.</a:t>
                      </a:r>
                      <a:endParaRPr lang="en-US" sz="1200" dirty="0">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100" dirty="0">
                          <a:effectLst/>
                        </a:rPr>
                        <a:t>[To be filled after execution].</a:t>
                      </a:r>
                      <a:endParaRPr lang="en-US" sz="11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Web Browser: Safari 14, OS: iOS 16.</a:t>
                      </a:r>
                      <a:endParaRPr lang="en-US" sz="1200" dirty="0">
                        <a:effectLst/>
                        <a:latin typeface="Calibri"/>
                        <a:ea typeface="Calibri"/>
                        <a:cs typeface="Times New Roman"/>
                      </a:endParaRPr>
                    </a:p>
                  </a:txBody>
                  <a:tcPr marL="9525" marR="9525" marT="9525" marB="9525" anchor="ctr"/>
                </a:tc>
              </a:tr>
              <a:tr h="439645">
                <a:tc>
                  <a:txBody>
                    <a:bodyPr/>
                    <a:lstStyle/>
                    <a:p>
                      <a:pPr>
                        <a:lnSpc>
                          <a:spcPct val="107000"/>
                        </a:lnSpc>
                        <a:spcAft>
                          <a:spcPts val="800"/>
                        </a:spcAft>
                      </a:pPr>
                      <a:r>
                        <a:rPr lang="en-US" sz="1200" b="1" kern="1200" dirty="0" smtClean="0">
                          <a:solidFill>
                            <a:schemeClr val="tx1"/>
                          </a:solidFill>
                          <a:latin typeface="+mn-lt"/>
                          <a:ea typeface="+mn-ea"/>
                          <a:cs typeface="+mn-cs"/>
                        </a:rPr>
                        <a:t>Ensure report data accuracy and allow exporting options (e.g., CSV, PDF).</a:t>
                      </a:r>
                      <a:endParaRPr lang="en-US" sz="1200" b="0" dirty="0">
                        <a:effectLst/>
                        <a:latin typeface="Calibri"/>
                        <a:ea typeface="Calibri"/>
                        <a:cs typeface="Times New Roman"/>
                      </a:endParaRPr>
                    </a:p>
                  </a:txBody>
                  <a:tcPr marL="9525" marR="9525" marT="9525" marB="9525" anchor="ctr"/>
                </a:tc>
              </a:tr>
            </a:tbl>
          </a:graphicData>
        </a:graphic>
      </p:graphicFrame>
      <p:pic>
        <p:nvPicPr>
          <p:cNvPr id="2051" name="Picture 3" descr="60235 - Admission Icon Free Png - Free ..."/>
          <p:cNvPicPr>
            <a:picLocks noGrp="1" noChangeAspect="1" noChangeArrowheads="1"/>
          </p:cNvPicPr>
          <p:nvPr>
            <p:ph type="pic" sz="quarter" idx="48"/>
          </p:nvPr>
        </p:nvPicPr>
        <p:blipFill>
          <a:blip r:embed="rId4">
            <a:extLst>
              <a:ext uri="{BEBA8EAE-BF5A-486C-A8C5-ECC9F3942E4B}">
                <a14:imgProps xmlns:a14="http://schemas.microsoft.com/office/drawing/2010/main">
                  <a14:imgLayer r:embed="rId5">
                    <a14:imgEffect>
                      <a14:backgroundRemoval t="10000" b="90000" l="25346" r="74654"/>
                    </a14:imgEffect>
                  </a14:imgLayer>
                </a14:imgProps>
              </a:ext>
              <a:ext uri="{28A0092B-C50C-407E-A947-70E740481C1C}">
                <a14:useLocalDpi xmlns:a14="http://schemas.microsoft.com/office/drawing/2010/main" val="0"/>
              </a:ext>
            </a:extLst>
          </a:blip>
          <a:srcRect l="19182" r="19182"/>
          <a:stretch>
            <a:fillRect/>
          </a:stretch>
        </p:blipFill>
        <p:spPr bwMode="auto">
          <a:xfrm>
            <a:off x="8653111" y="872510"/>
            <a:ext cx="2838662" cy="3160857"/>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75333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8"/>
          </p:nvPr>
        </p:nvSpPr>
        <p:spPr>
          <a:xfrm>
            <a:off x="586008" y="1"/>
            <a:ext cx="5840918" cy="7720148"/>
          </a:xfrm>
        </p:spPr>
        <p:txBody>
          <a:bodyPr/>
          <a:lstStyle/>
          <a:p>
            <a:pPr algn="ctr"/>
            <a:r>
              <a:rPr lang="en-US" sz="2800" b="1" dirty="0" smtClean="0"/>
              <a:t>SOW </a:t>
            </a:r>
          </a:p>
          <a:p>
            <a:r>
              <a:rPr lang="en-US" sz="2400" b="1" u="sng" dirty="0"/>
              <a:t>Statement of </a:t>
            </a:r>
            <a:r>
              <a:rPr lang="en-US" sz="2400" b="1" u="sng" dirty="0" smtClean="0"/>
              <a:t>Work</a:t>
            </a:r>
          </a:p>
          <a:p>
            <a:r>
              <a:rPr lang="en-US" b="1" dirty="0" smtClean="0"/>
              <a:t>Objective:</a:t>
            </a:r>
            <a:r>
              <a:rPr lang="en-US" dirty="0" smtClean="0"/>
              <a:t> Create a secure and efficient Admission Management System for universities.</a:t>
            </a:r>
          </a:p>
          <a:p>
            <a:r>
              <a:rPr lang="en-US" b="1" dirty="0" smtClean="0"/>
              <a:t>Purpose:</a:t>
            </a:r>
            <a:r>
              <a:rPr lang="en-US" dirty="0" smtClean="0"/>
              <a:t> Replace manual admission processes with an automated and user-friendly platform.</a:t>
            </a:r>
          </a:p>
          <a:p>
            <a:r>
              <a:rPr lang="en-US" b="1" dirty="0" smtClean="0"/>
              <a:t>Key Features:</a:t>
            </a:r>
            <a:endParaRPr lang="en-US" dirty="0" smtClean="0"/>
          </a:p>
          <a:p>
            <a:pPr lvl="1"/>
            <a:r>
              <a:rPr lang="en-US" sz="1200" dirty="0" smtClean="0"/>
              <a:t>Online form submission and management.</a:t>
            </a:r>
          </a:p>
          <a:p>
            <a:pPr lvl="1"/>
            <a:r>
              <a:rPr lang="en-US" sz="1200" dirty="0" smtClean="0"/>
              <a:t>Automated eligibility calculations.</a:t>
            </a:r>
          </a:p>
          <a:p>
            <a:pPr lvl="1"/>
            <a:r>
              <a:rPr lang="en-US" sz="1200" dirty="0" smtClean="0"/>
              <a:t>Secure data handling and storage.</a:t>
            </a:r>
          </a:p>
          <a:p>
            <a:pPr lvl="1"/>
            <a:r>
              <a:rPr lang="en-US" sz="1200" dirty="0" smtClean="0"/>
              <a:t>Real-time tracking and reporting</a:t>
            </a:r>
            <a:r>
              <a:rPr lang="en-US" dirty="0" smtClean="0"/>
              <a:t>.</a:t>
            </a:r>
          </a:p>
          <a:p>
            <a:r>
              <a:rPr lang="en-US" b="1" dirty="0" smtClean="0"/>
              <a:t>Development:</a:t>
            </a:r>
            <a:r>
              <a:rPr lang="en-US" dirty="0" smtClean="0"/>
              <a:t> Remote with optional on-site deployment support.</a:t>
            </a:r>
          </a:p>
          <a:p>
            <a:r>
              <a:rPr lang="en-US" b="1" dirty="0" smtClean="0"/>
              <a:t>Timeline:</a:t>
            </a:r>
            <a:endParaRPr lang="en-US" dirty="0" smtClean="0"/>
          </a:p>
          <a:p>
            <a:pPr lvl="1"/>
            <a:r>
              <a:rPr lang="en-US" sz="1200" dirty="0" smtClean="0"/>
              <a:t>Planning: 2 weeks</a:t>
            </a:r>
          </a:p>
          <a:p>
            <a:pPr lvl="1"/>
            <a:r>
              <a:rPr lang="en-US" sz="1200" dirty="0" smtClean="0"/>
              <a:t>Development: 8 weeks</a:t>
            </a:r>
          </a:p>
          <a:p>
            <a:pPr lvl="1"/>
            <a:r>
              <a:rPr lang="en-US" sz="1200" dirty="0" smtClean="0"/>
              <a:t>Testing: 4 weeks</a:t>
            </a:r>
          </a:p>
          <a:p>
            <a:pPr lvl="1"/>
            <a:r>
              <a:rPr lang="en-US" sz="1200" dirty="0" smtClean="0"/>
              <a:t>Deployment: 2 weeks</a:t>
            </a:r>
          </a:p>
          <a:p>
            <a:r>
              <a:rPr lang="en-US" b="1" dirty="0" smtClean="0"/>
              <a:t>Deliverables:</a:t>
            </a:r>
            <a:endParaRPr lang="en-US" dirty="0" smtClean="0"/>
          </a:p>
          <a:p>
            <a:pPr lvl="1"/>
            <a:r>
              <a:rPr lang="en-US" sz="1200" dirty="0" smtClean="0"/>
              <a:t>Working system with all features.</a:t>
            </a:r>
          </a:p>
          <a:p>
            <a:pPr lvl="1"/>
            <a:r>
              <a:rPr lang="en-US" sz="1200" dirty="0" smtClean="0"/>
              <a:t>User documentation and training sessions.</a:t>
            </a:r>
          </a:p>
          <a:p>
            <a:r>
              <a:rPr lang="en-US" b="1" dirty="0" smtClean="0"/>
              <a:t>Standards:</a:t>
            </a:r>
            <a:r>
              <a:rPr lang="en-US" dirty="0" smtClean="0"/>
              <a:t> Adhere to security, reliability, and performance benchmarks.</a:t>
            </a:r>
          </a:p>
          <a:p>
            <a:r>
              <a:rPr lang="en-US" b="1" dirty="0" smtClean="0"/>
              <a:t>Payment Terms:</a:t>
            </a:r>
            <a:r>
              <a:rPr lang="en-US" dirty="0" smtClean="0"/>
              <a:t> Based on project milestones.</a:t>
            </a:r>
          </a:p>
          <a:p>
            <a:endParaRPr lang="en-US" sz="2400" dirty="0"/>
          </a:p>
          <a:p>
            <a:endParaRPr lang="en-US" sz="2400" dirty="0"/>
          </a:p>
          <a:p>
            <a:endParaRPr lang="en-US" sz="2400" dirty="0"/>
          </a:p>
          <a:p>
            <a:endParaRPr lang="en-US" sz="2400" dirty="0"/>
          </a:p>
          <a:p>
            <a:endParaRPr lang="en-US" sz="2800" b="1" dirty="0"/>
          </a:p>
        </p:txBody>
      </p:sp>
      <p:pic>
        <p:nvPicPr>
          <p:cNvPr id="4100" name="Picture 4" descr="Icon Application PSD, High Quality Free ..."/>
          <p:cNvPicPr>
            <a:picLocks noGrp="1" noChangeAspect="1" noChangeArrowheads="1"/>
          </p:cNvPicPr>
          <p:nvPr>
            <p:ph type="pic" sz="quarter" idx="48"/>
          </p:nvPr>
        </p:nvPicPr>
        <p:blipFill>
          <a:blip r:embed="rId3">
            <a:extLst>
              <a:ext uri="{BEBA8EAE-BF5A-486C-A8C5-ECC9F3942E4B}">
                <a14:imgProps xmlns:a14="http://schemas.microsoft.com/office/drawing/2010/main">
                  <a14:imgLayer>
                    <a14:imgEffect>
                      <a14:backgroundRemoval t="10000" b="90000" l="14079" r="85921"/>
                    </a14:imgEffect>
                  </a14:imgLayer>
                </a14:imgProps>
              </a:ext>
              <a:ext uri="{28A0092B-C50C-407E-A947-70E740481C1C}">
                <a14:useLocalDpi xmlns:a14="http://schemas.microsoft.com/office/drawing/2010/main" val="0"/>
              </a:ext>
            </a:extLst>
          </a:blip>
          <a:srcRect l="5099" r="5099"/>
          <a:stretch>
            <a:fillRect/>
          </a:stretch>
        </p:blipFill>
        <p:spPr bwMode="auto">
          <a:xfrm>
            <a:off x="7766893" y="529148"/>
            <a:ext cx="3975138" cy="4064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40841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xmlns="" id="{AD2C8D04-263D-9589-1CFF-A5968D7C33D7}"/>
              </a:ext>
            </a:extLst>
          </p:cNvPr>
          <p:cNvSpPr>
            <a:spLocks noGrp="1"/>
          </p:cNvSpPr>
          <p:nvPr>
            <p:ph type="title"/>
          </p:nvPr>
        </p:nvSpPr>
        <p:spPr>
          <a:xfrm>
            <a:off x="6900231" y="4463801"/>
            <a:ext cx="5055698" cy="1325563"/>
          </a:xfrm>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xmlns=""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xmlns=""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xmlns=""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pic>
        <p:nvPicPr>
          <p:cNvPr id="28" name="Picture Placeholder 27" descr="Businesswoman reviewing sticky notes on a wall">
            <a:extLst>
              <a:ext uri="{FF2B5EF4-FFF2-40B4-BE49-F238E27FC236}">
                <a16:creationId xmlns:a16="http://schemas.microsoft.com/office/drawing/2014/main" xmlns=""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pic>
        <p:nvPicPr>
          <p:cNvPr id="6146" name="Picture 2" descr="if you have any questions please keep it for yourself i'm not GOOGLE eBook  : alixes, LTD, BRADOO: Amazon.ca: Kindle Stor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28659" y="202334"/>
            <a:ext cx="4859389" cy="35874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9279411"/>
      </p:ext>
    </p:extLst>
  </p:cSld>
  <p:clrMapOvr>
    <a:masterClrMapping/>
  </p:clrMapOvr>
  <p:timing>
    <p:tnLst>
      <p:par>
        <p:cTn id="1" dur="indefinite" restart="never" nodeType="tmRoot"/>
      </p:par>
    </p:tnLst>
  </p:timing>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4AD51DF-C727-4608-B606-5D6C957D4C4D}">
  <ds:schemaRefs>
    <ds:schemaRef ds:uri="http://schemas.microsoft.com/office/2006/documentManagement/types"/>
    <ds:schemaRef ds:uri="http://purl.org/dc/elements/1.1/"/>
    <ds:schemaRef ds:uri="http://schemas.microsoft.com/office/2006/metadata/properties"/>
    <ds:schemaRef ds:uri="http://schemas.microsoft.com/sharepoint/v3"/>
    <ds:schemaRef ds:uri="230e9df3-be65-4c73-a93b-d1236ebd677e"/>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s>
</ds:datastoreItem>
</file>

<file path=customXml/itemProps2.xml><?xml version="1.0" encoding="utf-8"?>
<ds:datastoreItem xmlns:ds="http://schemas.openxmlformats.org/officeDocument/2006/customXml" ds:itemID="{1E0D8C9A-C895-482B-B501-694996FFDE4D}">
  <ds:schemaRefs>
    <ds:schemaRef ds:uri="http://schemas.microsoft.com/sharepoint/v3/contenttype/forms"/>
  </ds:schemaRefs>
</ds:datastoreItem>
</file>

<file path=customXml/itemProps3.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0</TotalTime>
  <Words>1026</Words>
  <Application>Microsoft Office PowerPoint</Application>
  <PresentationFormat>Widescreen</PresentationFormat>
  <Paragraphs>220</Paragraphs>
  <Slides>18</Slides>
  <Notes>18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18</vt:i4>
      </vt:variant>
    </vt:vector>
  </HeadingPairs>
  <TitlesOfParts>
    <vt:vector size="30" baseType="lpstr">
      <vt:lpstr>微软雅黑</vt:lpstr>
      <vt:lpstr>Microsoft YaHei Light</vt:lpstr>
      <vt:lpstr>Abadi</vt:lpstr>
      <vt:lpstr>Arial</vt:lpstr>
      <vt:lpstr>Calibri</vt:lpstr>
      <vt:lpstr>等线</vt:lpstr>
      <vt:lpstr>Posterama</vt:lpstr>
      <vt:lpstr>Posterama Text Black</vt:lpstr>
      <vt:lpstr>Posterama Text SemiBold</vt:lpstr>
      <vt:lpstr>Times New Roman</vt:lpstr>
      <vt:lpstr>Wingdings</vt:lpstr>
      <vt:lpstr>Custom</vt:lpstr>
      <vt:lpstr>Admission Portal </vt:lpstr>
      <vt:lpstr>Meet our team</vt:lpstr>
      <vt:lpstr>Agenda</vt:lpstr>
      <vt:lpstr>Introduction</vt:lpstr>
      <vt:lpstr>Requirements</vt:lpstr>
      <vt:lpstr>Plan for our system</vt:lpstr>
      <vt:lpstr>AI techniques, particularly machine learning and deep learning, are employed to build predictive models that forecast weather conditions with improved accuracy. These models learn from historical weather data, including atmospheric pressure, temperature, humidity, and wind patterns, to predict future weather patterns</vt:lpstr>
      <vt:lpstr>Activity Diagram </vt:lpstr>
      <vt:lpstr> DFD(data flow diagram)</vt:lpstr>
      <vt:lpstr> DFD(data flow diagram)</vt:lpstr>
      <vt:lpstr> DFD(data flow diagram)</vt:lpstr>
      <vt:lpstr>Test case Scenario  Test case:1 Register Student:</vt:lpstr>
      <vt:lpstr>Test case :2 Veiw Grades:</vt:lpstr>
      <vt:lpstr>Test case:3  Display Enrolled Students</vt:lpstr>
      <vt:lpstr>Test case:4 Search for Student</vt:lpstr>
      <vt:lpstr>Test case:5 Generate Reports</vt:lpstr>
      <vt:lpstr>PowerPoint Presentation</vt:lpstr>
      <vt:lpstr>Thank you</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2023-09-14T06:03:51Z</dcterms:created>
  <dcterms:modified xsi:type="dcterms:W3CDTF">2026-05-18T05:08:07Z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